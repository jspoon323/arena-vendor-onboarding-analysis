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5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Status</c:v>
                </c:pt>
              </c:strCache>
            </c:strRef>
          </c:tx>
          <c:spPr>
            <a:solidFill>
              <a:schemeClr val="accent1"/>
            </a:solidFill>
            <a:ln w="9525" cap="flat">
              <a:solidFill>
                <a:srgbClr val="F9F9F9"/>
              </a:solidFill>
              <a:prstDash val="solid"/>
              <a:round/>
            </a:ln>
            <a:effectLst/>
          </c:spPr>
          <c:dPt>
            <c:idx val="0"/>
            <c:bubble3D val="0"/>
            <c:spPr>
              <a:solidFill>
                <a:srgbClr val="12B67E"/>
              </a:solidFill>
              <a:ln w="25400" cap="flat">
                <a:solidFill>
                  <a:srgbClr val="FFFFFF"/>
                </a:solidFill>
                <a:prstDash val="solid"/>
                <a:round/>
              </a:ln>
              <a:effectLst/>
            </c:spPr>
            <c:extLst>
              <c:ext xmlns:c16="http://schemas.microsoft.com/office/drawing/2014/chart" uri="{C3380CC4-5D6E-409C-BE32-E72D297353CC}">
                <c16:uniqueId val="{00000001-6EB6-44CE-986A-F7D2E9350DA3}"/>
              </c:ext>
            </c:extLst>
          </c:dPt>
          <c:dPt>
            <c:idx val="1"/>
            <c:bubble3D val="0"/>
            <c:spPr>
              <a:solidFill>
                <a:srgbClr val="7FC9B0"/>
              </a:solidFill>
              <a:ln w="25400" cap="flat">
                <a:solidFill>
                  <a:srgbClr val="FFFFFF"/>
                </a:solidFill>
                <a:prstDash val="solid"/>
                <a:round/>
              </a:ln>
              <a:effectLst/>
            </c:spPr>
            <c:extLst>
              <c:ext xmlns:c16="http://schemas.microsoft.com/office/drawing/2014/chart" uri="{C3380CC4-5D6E-409C-BE32-E72D297353CC}">
                <c16:uniqueId val="{00000003-6EB6-44CE-986A-F7D2E9350DA3}"/>
              </c:ext>
            </c:extLst>
          </c:dPt>
          <c:dPt>
            <c:idx val="2"/>
            <c:bubble3D val="0"/>
            <c:spPr>
              <a:solidFill>
                <a:srgbClr val="E0A83B"/>
              </a:solidFill>
              <a:ln w="25400" cap="flat">
                <a:solidFill>
                  <a:srgbClr val="FFFFFF"/>
                </a:solidFill>
                <a:prstDash val="solid"/>
                <a:round/>
              </a:ln>
              <a:effectLst/>
            </c:spPr>
            <c:extLst>
              <c:ext xmlns:c16="http://schemas.microsoft.com/office/drawing/2014/chart" uri="{C3380CC4-5D6E-409C-BE32-E72D297353CC}">
                <c16:uniqueId val="{00000005-6EB6-44CE-986A-F7D2E9350DA3}"/>
              </c:ext>
            </c:extLst>
          </c:dPt>
          <c:dPt>
            <c:idx val="3"/>
            <c:bubble3D val="0"/>
            <c:spPr>
              <a:solidFill>
                <a:srgbClr val="D8654F"/>
              </a:solidFill>
              <a:ln w="25400" cap="flat">
                <a:solidFill>
                  <a:srgbClr val="FFFFFF"/>
                </a:solidFill>
                <a:prstDash val="solid"/>
                <a:round/>
              </a:ln>
              <a:effectLst/>
            </c:spPr>
            <c:extLst>
              <c:ext xmlns:c16="http://schemas.microsoft.com/office/drawing/2014/chart" uri="{C3380CC4-5D6E-409C-BE32-E72D297353CC}">
                <c16:uniqueId val="{00000007-6EB6-44CE-986A-F7D2E9350DA3}"/>
              </c:ext>
            </c:extLst>
          </c:dPt>
          <c:dPt>
            <c:idx val="4"/>
            <c:bubble3D val="0"/>
            <c:spPr>
              <a:solidFill>
                <a:srgbClr val="40506B"/>
              </a:solidFill>
              <a:ln w="25400" cap="flat">
                <a:solidFill>
                  <a:srgbClr val="FFFFFF"/>
                </a:solidFill>
                <a:prstDash val="solid"/>
                <a:round/>
              </a:ln>
              <a:effectLst/>
            </c:spPr>
            <c:extLst>
              <c:ext xmlns:c16="http://schemas.microsoft.com/office/drawing/2014/chart" uri="{C3380CC4-5D6E-409C-BE32-E72D297353CC}">
                <c16:uniqueId val="{00000009-6EB6-44CE-986A-F7D2E9350DA3}"/>
              </c:ext>
            </c:extLst>
          </c:dPt>
          <c:cat>
            <c:strRef>
              <c:f>Sheet1!$A$2:$A$6</c:f>
              <c:strCache>
                <c:ptCount val="5"/>
                <c:pt idx="0">
                  <c:v>Complete</c:v>
                </c:pt>
                <c:pt idx="1">
                  <c:v>Received</c:v>
                </c:pt>
                <c:pt idx="2">
                  <c:v>Delayed</c:v>
                </c:pt>
                <c:pt idx="3">
                  <c:v>Delayed (EOD)</c:v>
                </c:pt>
                <c:pt idx="4">
                  <c:v>Poor Comms</c:v>
                </c:pt>
              </c:strCache>
            </c:strRef>
          </c:cat>
          <c:val>
            <c:numRef>
              <c:f>Sheet1!$B$2:$B$6</c:f>
              <c:numCache>
                <c:formatCode>General</c:formatCode>
                <c:ptCount val="5"/>
                <c:pt idx="0">
                  <c:v>140</c:v>
                </c:pt>
                <c:pt idx="1">
                  <c:v>133</c:v>
                </c:pt>
                <c:pt idx="2">
                  <c:v>62</c:v>
                </c:pt>
                <c:pt idx="3">
                  <c:v>12</c:v>
                </c:pt>
                <c:pt idx="4">
                  <c:v>23</c:v>
                </c:pt>
              </c:numCache>
            </c:numRef>
          </c:val>
          <c:extLst>
            <c:ext xmlns:c16="http://schemas.microsoft.com/office/drawing/2014/chart" uri="{C3380CC4-5D6E-409C-BE32-E72D297353CC}">
              <c16:uniqueId val="{0000000A-6EB6-44CE-986A-F7D2E9350DA3}"/>
            </c:ext>
          </c:extLst>
        </c:ser>
        <c:dLbls>
          <c:showLegendKey val="0"/>
          <c:showVal val="0"/>
          <c:showCatName val="0"/>
          <c:showSerName val="0"/>
          <c:showPercent val="0"/>
          <c:showBubbleSize val="0"/>
          <c:showLeaderLines val="0"/>
        </c:dLbls>
        <c:firstSliceAng val="0"/>
        <c:holeSize val="58"/>
      </c:doughnutChart>
      <c:spPr>
        <a:noFill/>
        <a:ln>
          <a:noFill/>
        </a:ln>
        <a:effectLst/>
      </c:spPr>
    </c:plotArea>
    <c:legend>
      <c:legendPos val="r"/>
      <c:overlay val="0"/>
      <c:txPr>
        <a:bodyPr/>
        <a:lstStyle/>
        <a:p>
          <a:pPr>
            <a:defRPr sz="1100">
              <a:solidFill>
                <a:srgbClr val="1A2433"/>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Completion %</c:v>
                </c:pt>
              </c:strCache>
            </c:strRef>
          </c:tx>
          <c:spPr>
            <a:solidFill>
              <a:srgbClr val="12B67E"/>
            </a:solidFill>
            <a:effectLst/>
          </c:spPr>
          <c:invertIfNegative val="0"/>
          <c:dLbls>
            <c:numFmt formatCode="0&quot;%&quot;" sourceLinked="0"/>
            <c:spPr>
              <a:noFill/>
              <a:ln>
                <a:noFill/>
              </a:ln>
              <a:effectLst/>
            </c:spPr>
            <c:txPr>
              <a:bodyPr/>
              <a:lstStyle/>
              <a:p>
                <a:pPr>
                  <a:defRPr sz="1000" b="0" i="0" u="none" strike="noStrike">
                    <a:solidFill>
                      <a:srgbClr val="1A24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Marisol</c:v>
                </c:pt>
                <c:pt idx="1">
                  <c:v>Trevor</c:v>
                </c:pt>
                <c:pt idx="2">
                  <c:v>Damon</c:v>
                </c:pt>
                <c:pt idx="3">
                  <c:v>Andre</c:v>
                </c:pt>
                <c:pt idx="4">
                  <c:v>Hannah</c:v>
                </c:pt>
                <c:pt idx="5">
                  <c:v>Priya</c:v>
                </c:pt>
                <c:pt idx="6">
                  <c:v>Yuki</c:v>
                </c:pt>
              </c:strCache>
            </c:strRef>
          </c:cat>
          <c:val>
            <c:numRef>
              <c:f>Sheet1!$B$2:$B$8</c:f>
              <c:numCache>
                <c:formatCode>General</c:formatCode>
                <c:ptCount val="7"/>
                <c:pt idx="0">
                  <c:v>57</c:v>
                </c:pt>
                <c:pt idx="1">
                  <c:v>57</c:v>
                </c:pt>
                <c:pt idx="2">
                  <c:v>38</c:v>
                </c:pt>
                <c:pt idx="3">
                  <c:v>38</c:v>
                </c:pt>
                <c:pt idx="4">
                  <c:v>29</c:v>
                </c:pt>
                <c:pt idx="5">
                  <c:v>28</c:v>
                </c:pt>
                <c:pt idx="6">
                  <c:v>19</c:v>
                </c:pt>
              </c:numCache>
            </c:numRef>
          </c:val>
          <c:extLst>
            <c:ext xmlns:c16="http://schemas.microsoft.com/office/drawing/2014/chart" uri="{C3380CC4-5D6E-409C-BE32-E72D297353CC}">
              <c16:uniqueId val="{00000000-02AA-4993-8530-A1F07B51DB7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A2433"/>
                </a:solidFill>
                <a:latin typeface="Calibri"/>
              </a:defRPr>
            </a:pPr>
            <a:endParaRPr lang="en-US"/>
          </a:p>
        </c:txPr>
        <c:crossAx val="2094734552"/>
        <c:crosses val="autoZero"/>
        <c:auto val="1"/>
        <c:lblAlgn val="ctr"/>
        <c:lblOffset val="100"/>
        <c:noMultiLvlLbl val="1"/>
      </c:catAx>
      <c:valAx>
        <c:axId val="2094734552"/>
        <c:scaling>
          <c:orientation val="minMax"/>
          <c:max val="65"/>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8328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138"/>
        </a:solidFill>
        <a:effectLst/>
      </p:bgPr>
    </p:bg>
    <p:spTree>
      <p:nvGrpSpPr>
        <p:cNvPr id="1" name=""/>
        <p:cNvGrpSpPr/>
        <p:nvPr/>
      </p:nvGrpSpPr>
      <p:grpSpPr>
        <a:xfrm>
          <a:off x="0" y="0"/>
          <a:ext cx="0" cy="0"/>
          <a:chOff x="0" y="0"/>
          <a:chExt cx="0" cy="0"/>
        </a:xfrm>
      </p:grpSpPr>
      <p:sp>
        <p:nvSpPr>
          <p:cNvPr id="2" name="Shape 0"/>
          <p:cNvSpPr/>
          <p:nvPr/>
        </p:nvSpPr>
        <p:spPr>
          <a:xfrm>
            <a:off x="822960" y="731520"/>
            <a:ext cx="868680" cy="868680"/>
          </a:xfrm>
          <a:prstGeom prst="ellipse">
            <a:avLst/>
          </a:prstGeom>
          <a:solidFill>
            <a:srgbClr val="12B67E"/>
          </a:solidFill>
          <a:ln/>
        </p:spPr>
        <p:txBody>
          <a:bodyPr/>
          <a:lstStyle/>
          <a:p>
            <a:endParaRPr lang="en-US"/>
          </a:p>
        </p:txBody>
      </p:sp>
      <p:sp>
        <p:nvSpPr>
          <p:cNvPr id="3" name="Text 1"/>
          <p:cNvSpPr txBox="1"/>
          <p:nvPr/>
        </p:nvSpPr>
        <p:spPr>
          <a:xfrm>
            <a:off x="822960" y="731520"/>
            <a:ext cx="868680" cy="8686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AR</a:t>
            </a:r>
            <a:endParaRPr lang="en-US" sz="2200" dirty="0"/>
          </a:p>
        </p:txBody>
      </p:sp>
      <p:sp>
        <p:nvSpPr>
          <p:cNvPr id="4" name="Text 2"/>
          <p:cNvSpPr txBox="1"/>
          <p:nvPr/>
        </p:nvSpPr>
        <p:spPr>
          <a:xfrm>
            <a:off x="822960" y="2057400"/>
            <a:ext cx="10698480" cy="914400"/>
          </a:xfrm>
          <a:prstGeom prst="rect">
            <a:avLst/>
          </a:prstGeom>
          <a:noFill/>
          <a:ln/>
        </p:spPr>
        <p:txBody>
          <a:bodyPr wrap="square" lIns="0" tIns="0" rIns="0" bIns="0" rtlCol="0" anchor="ctr"/>
          <a:lstStyle/>
          <a:p>
            <a:pPr marL="0" indent="0">
              <a:buNone/>
            </a:pPr>
            <a:r>
              <a:rPr lang="en-US" sz="4600" b="1" dirty="0">
                <a:solidFill>
                  <a:srgbClr val="FFFFFF"/>
                </a:solidFill>
                <a:latin typeface="Calibri" pitchFamily="34" charset="0"/>
                <a:ea typeface="Calibri" pitchFamily="34" charset="-122"/>
                <a:cs typeface="Calibri" pitchFamily="34" charset="-120"/>
              </a:rPr>
              <a:t>Vendor Onboarding Analysis</a:t>
            </a:r>
            <a:endParaRPr lang="en-US" sz="4600" dirty="0"/>
          </a:p>
        </p:txBody>
      </p:sp>
      <p:sp>
        <p:nvSpPr>
          <p:cNvPr id="5" name="Text 3"/>
          <p:cNvSpPr txBox="1"/>
          <p:nvPr/>
        </p:nvSpPr>
        <p:spPr>
          <a:xfrm>
            <a:off x="841248" y="3017520"/>
            <a:ext cx="10515600" cy="457200"/>
          </a:xfrm>
          <a:prstGeom prst="rect">
            <a:avLst/>
          </a:prstGeom>
          <a:noFill/>
          <a:ln/>
        </p:spPr>
        <p:txBody>
          <a:bodyPr wrap="square" lIns="0" tIns="0" rIns="0" bIns="0" rtlCol="0" anchor="ctr"/>
          <a:lstStyle/>
          <a:p>
            <a:pPr marL="0" indent="0">
              <a:buNone/>
            </a:pPr>
            <a:r>
              <a:rPr lang="en-US" sz="2000" dirty="0">
                <a:solidFill>
                  <a:srgbClr val="8FE3C4"/>
                </a:solidFill>
                <a:latin typeface="Calibri" pitchFamily="34" charset="0"/>
                <a:ea typeface="Calibri" pitchFamily="34" charset="-122"/>
                <a:cs typeface="Calibri" pitchFamily="34" charset="-120"/>
              </a:rPr>
              <a:t>Crypto.com Arena  ·  Live Excel Dashboard</a:t>
            </a:r>
            <a:endParaRPr lang="en-US" sz="2000" dirty="0"/>
          </a:p>
        </p:txBody>
      </p:sp>
      <p:sp>
        <p:nvSpPr>
          <p:cNvPr id="6" name="Text 4"/>
          <p:cNvSpPr txBox="1"/>
          <p:nvPr/>
        </p:nvSpPr>
        <p:spPr>
          <a:xfrm>
            <a:off x="841248" y="4114800"/>
            <a:ext cx="10607040" cy="365760"/>
          </a:xfrm>
          <a:prstGeom prst="rect">
            <a:avLst/>
          </a:prstGeom>
          <a:noFill/>
          <a:ln/>
        </p:spPr>
        <p:txBody>
          <a:bodyPr wrap="square" lIns="0" tIns="0" rIns="0" bIns="0" rtlCol="0" anchor="ctr"/>
          <a:lstStyle/>
          <a:p>
            <a:pPr marL="0" indent="0">
              <a:buNone/>
            </a:pPr>
            <a:r>
              <a:rPr lang="en-US" sz="1400" b="1" dirty="0">
                <a:solidFill>
                  <a:srgbClr val="CFE0EE"/>
                </a:solidFill>
                <a:latin typeface="Calibri" pitchFamily="34" charset="0"/>
                <a:ea typeface="Calibri" pitchFamily="34" charset="-122"/>
                <a:cs typeface="Calibri" pitchFamily="34" charset="-120"/>
              </a:rPr>
              <a:t>Analyst: </a:t>
            </a:r>
            <a:r>
              <a:rPr lang="en-US" sz="1400" dirty="0">
                <a:solidFill>
                  <a:srgbClr val="CFE0EE"/>
                </a:solidFill>
                <a:latin typeface="Calibri" pitchFamily="34" charset="0"/>
                <a:ea typeface="Calibri" pitchFamily="34" charset="-122"/>
                <a:cs typeface="Calibri" pitchFamily="34" charset="-120"/>
              </a:rPr>
              <a:t>Spoon        </a:t>
            </a:r>
            <a:r>
              <a:rPr lang="en-US" sz="1400" b="1" dirty="0">
                <a:solidFill>
                  <a:srgbClr val="CFE0EE"/>
                </a:solidFill>
                <a:latin typeface="Calibri" pitchFamily="34" charset="0"/>
                <a:ea typeface="Calibri" pitchFamily="34" charset="-122"/>
                <a:cs typeface="Calibri" pitchFamily="34" charset="-120"/>
              </a:rPr>
              <a:t>Scope: </a:t>
            </a:r>
            <a:r>
              <a:rPr lang="en-US" sz="1400" dirty="0">
                <a:solidFill>
                  <a:srgbClr val="CFE0EE"/>
                </a:solidFill>
                <a:latin typeface="Calibri" pitchFamily="34" charset="0"/>
                <a:ea typeface="Calibri" pitchFamily="34" charset="-122"/>
                <a:cs typeface="Calibri" pitchFamily="34" charset="-120"/>
              </a:rPr>
              <a:t>370 vendors · 7 onboarding coordinators</a:t>
            </a:r>
            <a:endParaRPr lang="en-US" sz="1400" dirty="0"/>
          </a:p>
        </p:txBody>
      </p:sp>
      <p:sp>
        <p:nvSpPr>
          <p:cNvPr id="7" name="Text 5"/>
          <p:cNvSpPr txBox="1"/>
          <p:nvPr/>
        </p:nvSpPr>
        <p:spPr>
          <a:xfrm>
            <a:off x="841248" y="4480560"/>
            <a:ext cx="10607040" cy="365760"/>
          </a:xfrm>
          <a:prstGeom prst="rect">
            <a:avLst/>
          </a:prstGeom>
          <a:noFill/>
          <a:ln/>
        </p:spPr>
        <p:txBody>
          <a:bodyPr wrap="square" lIns="0" tIns="0" rIns="0" bIns="0" rtlCol="0" anchor="ctr"/>
          <a:lstStyle/>
          <a:p>
            <a:pPr marL="0" indent="0">
              <a:buNone/>
            </a:pPr>
            <a:r>
              <a:rPr lang="en-US" sz="1400" b="1" dirty="0">
                <a:solidFill>
                  <a:srgbClr val="CFE0EE"/>
                </a:solidFill>
                <a:latin typeface="Calibri" pitchFamily="34" charset="0"/>
                <a:ea typeface="Calibri" pitchFamily="34" charset="-122"/>
                <a:cs typeface="Calibri" pitchFamily="34" charset="-120"/>
              </a:rPr>
              <a:t>Tools: </a:t>
            </a:r>
            <a:r>
              <a:rPr lang="en-US" sz="1400" dirty="0">
                <a:solidFill>
                  <a:srgbClr val="CFE0EE"/>
                </a:solidFill>
                <a:latin typeface="Calibri" pitchFamily="34" charset="0"/>
                <a:ea typeface="Calibri" pitchFamily="34" charset="-122"/>
                <a:cs typeface="Calibri" pitchFamily="34" charset="-120"/>
              </a:rPr>
              <a:t>Excel (data cleaning, live formula engine, dashboard), Claude (AI assistant)</a:t>
            </a:r>
            <a:endParaRPr lang="en-US" sz="1400" dirty="0"/>
          </a:p>
        </p:txBody>
      </p:sp>
      <p:sp>
        <p:nvSpPr>
          <p:cNvPr id="8" name="Text 6"/>
          <p:cNvSpPr txBox="1"/>
          <p:nvPr/>
        </p:nvSpPr>
        <p:spPr>
          <a:xfrm>
            <a:off x="841248" y="5212080"/>
            <a:ext cx="10607040" cy="548640"/>
          </a:xfrm>
          <a:prstGeom prst="rect">
            <a:avLst/>
          </a:prstGeom>
          <a:noFill/>
          <a:ln/>
        </p:spPr>
        <p:txBody>
          <a:bodyPr wrap="square" lIns="0" tIns="0" rIns="0" bIns="0" rtlCol="0" anchor="ctr"/>
          <a:lstStyle/>
          <a:p>
            <a:pPr marL="0" indent="0">
              <a:lnSpc>
                <a:spcPct val="105000"/>
              </a:lnSpc>
              <a:buNone/>
            </a:pPr>
            <a:r>
              <a:rPr lang="en-US" sz="1400" i="1" dirty="0">
                <a:solidFill>
                  <a:srgbClr val="8FA6BC"/>
                </a:solidFill>
                <a:latin typeface="Calibri" pitchFamily="34" charset="0"/>
                <a:ea typeface="Calibri" pitchFamily="34" charset="-122"/>
                <a:cs typeface="Calibri" pitchFamily="34" charset="-120"/>
              </a:rPr>
              <a:t>A designed sourcing &amp; procurement scenario: onboard the full supplier base an arena runs on, from a raw 400-vendor list cleaned to 370.</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2138"/>
        </a:solidFill>
        <a:effectLst/>
      </p:bgPr>
    </p:bg>
    <p:spTree>
      <p:nvGrpSpPr>
        <p:cNvPr id="1" name=""/>
        <p:cNvGrpSpPr/>
        <p:nvPr/>
      </p:nvGrpSpPr>
      <p:grpSpPr>
        <a:xfrm>
          <a:off x="0" y="0"/>
          <a:ext cx="0" cy="0"/>
          <a:chOff x="0" y="0"/>
          <a:chExt cx="0" cy="0"/>
        </a:xfrm>
      </p:grpSpPr>
      <p:sp>
        <p:nvSpPr>
          <p:cNvPr id="2" name="Text 0"/>
          <p:cNvSpPr txBox="1"/>
          <p:nvPr/>
        </p:nvSpPr>
        <p:spPr>
          <a:xfrm>
            <a:off x="822960" y="2011680"/>
            <a:ext cx="5486400" cy="1097280"/>
          </a:xfrm>
          <a:prstGeom prst="rect">
            <a:avLst/>
          </a:prstGeom>
          <a:noFill/>
          <a:ln/>
        </p:spPr>
        <p:txBody>
          <a:bodyPr wrap="square" lIns="0" tIns="0" rIns="0" bIns="0" rtlCol="0" anchor="ctr"/>
          <a:lstStyle/>
          <a:p>
            <a:pPr marL="0" indent="0">
              <a:buNone/>
            </a:pPr>
            <a:r>
              <a:rPr lang="en-US" sz="6000" b="1" dirty="0">
                <a:solidFill>
                  <a:srgbClr val="12B67E"/>
                </a:solidFill>
                <a:latin typeface="Calibri" pitchFamily="34" charset="0"/>
                <a:ea typeface="Calibri" pitchFamily="34" charset="-122"/>
                <a:cs typeface="Calibri" pitchFamily="34" charset="-120"/>
              </a:rPr>
              <a:t>Part 1</a:t>
            </a:r>
            <a:endParaRPr lang="en-US" sz="6000" dirty="0"/>
          </a:p>
        </p:txBody>
      </p:sp>
      <p:sp>
        <p:nvSpPr>
          <p:cNvPr id="3" name="Text 1"/>
          <p:cNvSpPr txBox="1"/>
          <p:nvPr/>
        </p:nvSpPr>
        <p:spPr>
          <a:xfrm>
            <a:off x="841248" y="3063240"/>
            <a:ext cx="10515600" cy="82296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The Findings</a:t>
            </a:r>
            <a:endParaRPr lang="en-US" sz="3800" dirty="0"/>
          </a:p>
        </p:txBody>
      </p:sp>
      <p:sp>
        <p:nvSpPr>
          <p:cNvPr id="4" name="Text 2"/>
          <p:cNvSpPr txBox="1"/>
          <p:nvPr/>
        </p:nvSpPr>
        <p:spPr>
          <a:xfrm>
            <a:off x="859536" y="3950208"/>
            <a:ext cx="10424160" cy="731520"/>
          </a:xfrm>
          <a:prstGeom prst="rect">
            <a:avLst/>
          </a:prstGeom>
          <a:noFill/>
          <a:ln/>
        </p:spPr>
        <p:txBody>
          <a:bodyPr wrap="square" lIns="0" tIns="0" rIns="0" bIns="0" rtlCol="0" anchor="ctr"/>
          <a:lstStyle/>
          <a:p>
            <a:pPr marL="0" indent="0">
              <a:lnSpc>
                <a:spcPct val="105000"/>
              </a:lnSpc>
              <a:buNone/>
            </a:pPr>
            <a:r>
              <a:rPr lang="en-US" sz="1800" dirty="0">
                <a:solidFill>
                  <a:srgbClr val="8FE3C4"/>
                </a:solidFill>
                <a:latin typeface="Calibri" pitchFamily="34" charset="0"/>
                <a:ea typeface="Calibri" pitchFamily="34" charset="-122"/>
                <a:cs typeface="Calibri" pitchFamily="34" charset="-120"/>
              </a:rPr>
              <a:t>What the data says about opening-day readiness, and where the exposure actually sits.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12B67E"/>
          </a:solidFill>
          <a:ln/>
        </p:spPr>
        <p:txBody>
          <a:bodyPr/>
          <a:lstStyle/>
          <a:p>
            <a:endParaRPr lang="en-US"/>
          </a:p>
        </p:txBody>
      </p:sp>
      <p:sp>
        <p:nvSpPr>
          <p:cNvPr id="3" name="Text 1"/>
          <p:cNvSpPr txBox="1"/>
          <p:nvPr/>
        </p:nvSpPr>
        <p:spPr>
          <a:xfrm>
            <a:off x="640080" y="457200"/>
            <a:ext cx="566928" cy="566928"/>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01</a:t>
            </a:r>
            <a:endParaRPr lang="en-US" sz="1700" dirty="0"/>
          </a:p>
        </p:txBody>
      </p:sp>
      <p:sp>
        <p:nvSpPr>
          <p:cNvPr id="4" name="Text 2"/>
          <p:cNvSpPr txBox="1"/>
          <p:nvPr/>
        </p:nvSpPr>
        <p:spPr>
          <a:xfrm>
            <a:off x="1371600" y="457200"/>
            <a:ext cx="10149840" cy="274320"/>
          </a:xfrm>
          <a:prstGeom prst="rect">
            <a:avLst/>
          </a:prstGeom>
          <a:noFill/>
          <a:ln/>
        </p:spPr>
        <p:txBody>
          <a:bodyPr wrap="square" lIns="0" tIns="0" rIns="0" bIns="0" rtlCol="0" anchor="ctr"/>
          <a:lstStyle/>
          <a:p>
            <a:pPr marL="0" indent="0">
              <a:buNone/>
            </a:pPr>
            <a:r>
              <a:rPr lang="en-US" sz="1200" b="1" kern="0" spc="200" dirty="0">
                <a:solidFill>
                  <a:srgbClr val="0E8F63"/>
                </a:solidFill>
                <a:latin typeface="Calibri" pitchFamily="34" charset="0"/>
                <a:ea typeface="Calibri" pitchFamily="34" charset="-122"/>
                <a:cs typeface="Calibri" pitchFamily="34" charset="-120"/>
              </a:rPr>
              <a:t>EXECUTIVE SUMMARY</a:t>
            </a:r>
            <a:endParaRPr lang="en-US" sz="1200" dirty="0"/>
          </a:p>
        </p:txBody>
      </p:sp>
      <p:sp>
        <p:nvSpPr>
          <p:cNvPr id="5" name="Text 3"/>
          <p:cNvSpPr txBox="1"/>
          <p:nvPr/>
        </p:nvSpPr>
        <p:spPr>
          <a:xfrm>
            <a:off x="1371600" y="713232"/>
            <a:ext cx="10241280" cy="548640"/>
          </a:xfrm>
          <a:prstGeom prst="rect">
            <a:avLst/>
          </a:prstGeom>
          <a:noFill/>
          <a:ln/>
        </p:spPr>
        <p:txBody>
          <a:bodyPr wrap="square" lIns="0" tIns="0" rIns="0" bIns="0" rtlCol="0" anchor="ctr"/>
          <a:lstStyle/>
          <a:p>
            <a:pPr marL="0" indent="0">
              <a:buNone/>
            </a:pPr>
            <a:r>
              <a:rPr lang="en-US" sz="2600" b="1" dirty="0">
                <a:solidFill>
                  <a:srgbClr val="1A2433"/>
                </a:solidFill>
                <a:latin typeface="Calibri" pitchFamily="34" charset="0"/>
                <a:ea typeface="Calibri" pitchFamily="34" charset="-122"/>
                <a:cs typeface="Calibri" pitchFamily="34" charset="-120"/>
              </a:rPr>
              <a:t>Progress is healthy. The essential services are not yet secured.</a:t>
            </a:r>
            <a:endParaRPr lang="en-US" sz="2600" dirty="0"/>
          </a:p>
        </p:txBody>
      </p:sp>
      <p:sp>
        <p:nvSpPr>
          <p:cNvPr id="6" name="Shape 4"/>
          <p:cNvSpPr/>
          <p:nvPr/>
        </p:nvSpPr>
        <p:spPr>
          <a:xfrm>
            <a:off x="640080" y="1600200"/>
            <a:ext cx="2555748" cy="1965960"/>
          </a:xfrm>
          <a:prstGeom prst="roundRect">
            <a:avLst>
              <a:gd name="adj" fmla="val 4186"/>
            </a:avLst>
          </a:prstGeom>
          <a:solidFill>
            <a:srgbClr val="F4F6F8"/>
          </a:solidFill>
          <a:ln w="12700">
            <a:solidFill>
              <a:srgbClr val="D9DEE5"/>
            </a:solidFill>
            <a:prstDash val="solid"/>
          </a:ln>
        </p:spPr>
        <p:txBody>
          <a:bodyPr/>
          <a:lstStyle/>
          <a:p>
            <a:endParaRPr lang="en-US"/>
          </a:p>
        </p:txBody>
      </p:sp>
      <p:sp>
        <p:nvSpPr>
          <p:cNvPr id="7" name="Text 5"/>
          <p:cNvSpPr txBox="1"/>
          <p:nvPr/>
        </p:nvSpPr>
        <p:spPr>
          <a:xfrm>
            <a:off x="640080" y="1783080"/>
            <a:ext cx="2555748" cy="868680"/>
          </a:xfrm>
          <a:prstGeom prst="rect">
            <a:avLst/>
          </a:prstGeom>
          <a:noFill/>
          <a:ln/>
        </p:spPr>
        <p:txBody>
          <a:bodyPr wrap="square" lIns="0" tIns="0" rIns="0" bIns="0" rtlCol="0" anchor="ctr"/>
          <a:lstStyle/>
          <a:p>
            <a:pPr marL="0" indent="0" algn="ctr">
              <a:buNone/>
            </a:pPr>
            <a:r>
              <a:rPr lang="en-US" sz="4600" b="1" dirty="0">
                <a:solidFill>
                  <a:srgbClr val="12B67E"/>
                </a:solidFill>
                <a:latin typeface="Calibri" pitchFamily="34" charset="0"/>
                <a:ea typeface="Calibri" pitchFamily="34" charset="-122"/>
                <a:cs typeface="Calibri" pitchFamily="34" charset="-120"/>
              </a:rPr>
              <a:t>38%</a:t>
            </a:r>
            <a:endParaRPr lang="en-US" sz="4600" dirty="0"/>
          </a:p>
        </p:txBody>
      </p:sp>
      <p:sp>
        <p:nvSpPr>
          <p:cNvPr id="8" name="Text 6"/>
          <p:cNvSpPr txBox="1"/>
          <p:nvPr/>
        </p:nvSpPr>
        <p:spPr>
          <a:xfrm>
            <a:off x="749808" y="2697480"/>
            <a:ext cx="2336292" cy="457200"/>
          </a:xfrm>
          <a:prstGeom prst="rect">
            <a:avLst/>
          </a:prstGeom>
          <a:noFill/>
          <a:ln/>
        </p:spPr>
        <p:txBody>
          <a:bodyPr wrap="square" lIns="0" tIns="0" rIns="0" bIns="0" rtlCol="0" anchor="ctr"/>
          <a:lstStyle/>
          <a:p>
            <a:pPr marL="0" indent="0" algn="ctr">
              <a:buNone/>
            </a:pPr>
            <a:r>
              <a:rPr lang="en-US" sz="1450" b="1" dirty="0">
                <a:solidFill>
                  <a:srgbClr val="1A2433"/>
                </a:solidFill>
                <a:latin typeface="Calibri" pitchFamily="34" charset="0"/>
                <a:ea typeface="Calibri" pitchFamily="34" charset="-122"/>
                <a:cs typeface="Calibri" pitchFamily="34" charset="-120"/>
              </a:rPr>
              <a:t>fully onboarded</a:t>
            </a:r>
            <a:endParaRPr lang="en-US" sz="1450" dirty="0"/>
          </a:p>
        </p:txBody>
      </p:sp>
      <p:sp>
        <p:nvSpPr>
          <p:cNvPr id="9" name="Text 7"/>
          <p:cNvSpPr txBox="1"/>
          <p:nvPr/>
        </p:nvSpPr>
        <p:spPr>
          <a:xfrm>
            <a:off x="749808" y="3127248"/>
            <a:ext cx="2336292" cy="365760"/>
          </a:xfrm>
          <a:prstGeom prst="rect">
            <a:avLst/>
          </a:prstGeom>
          <a:noFill/>
          <a:ln/>
        </p:spPr>
        <p:txBody>
          <a:bodyPr wrap="square" lIns="0" tIns="0" rIns="0" bIns="0" rtlCol="0" anchor="ctr"/>
          <a:lstStyle/>
          <a:p>
            <a:pPr marL="0" indent="0" algn="ctr">
              <a:buNone/>
            </a:pPr>
            <a:r>
              <a:rPr lang="en-US" sz="1200" dirty="0">
                <a:solidFill>
                  <a:srgbClr val="6B7280"/>
                </a:solidFill>
                <a:latin typeface="Calibri" pitchFamily="34" charset="0"/>
                <a:ea typeface="Calibri" pitchFamily="34" charset="-122"/>
                <a:cs typeface="Calibri" pitchFamily="34" charset="-120"/>
              </a:rPr>
              <a:t>140 of 370</a:t>
            </a:r>
            <a:endParaRPr lang="en-US" sz="1200" dirty="0"/>
          </a:p>
        </p:txBody>
      </p:sp>
      <p:sp>
        <p:nvSpPr>
          <p:cNvPr id="10" name="Shape 8"/>
          <p:cNvSpPr/>
          <p:nvPr/>
        </p:nvSpPr>
        <p:spPr>
          <a:xfrm>
            <a:off x="3424428" y="1600200"/>
            <a:ext cx="2555748" cy="1965960"/>
          </a:xfrm>
          <a:prstGeom prst="roundRect">
            <a:avLst>
              <a:gd name="adj" fmla="val 4186"/>
            </a:avLst>
          </a:prstGeom>
          <a:solidFill>
            <a:srgbClr val="F4F6F8"/>
          </a:solidFill>
          <a:ln w="12700">
            <a:solidFill>
              <a:srgbClr val="D9DEE5"/>
            </a:solidFill>
            <a:prstDash val="solid"/>
          </a:ln>
        </p:spPr>
        <p:txBody>
          <a:bodyPr/>
          <a:lstStyle/>
          <a:p>
            <a:endParaRPr lang="en-US"/>
          </a:p>
        </p:txBody>
      </p:sp>
      <p:sp>
        <p:nvSpPr>
          <p:cNvPr id="11" name="Text 9"/>
          <p:cNvSpPr txBox="1"/>
          <p:nvPr/>
        </p:nvSpPr>
        <p:spPr>
          <a:xfrm>
            <a:off x="3424428" y="1783080"/>
            <a:ext cx="2555748" cy="868680"/>
          </a:xfrm>
          <a:prstGeom prst="rect">
            <a:avLst/>
          </a:prstGeom>
          <a:noFill/>
          <a:ln/>
        </p:spPr>
        <p:txBody>
          <a:bodyPr wrap="square" lIns="0" tIns="0" rIns="0" bIns="0" rtlCol="0" anchor="ctr"/>
          <a:lstStyle/>
          <a:p>
            <a:pPr marL="0" indent="0" algn="ctr">
              <a:buNone/>
            </a:pPr>
            <a:r>
              <a:rPr lang="en-US" sz="4600" b="1" dirty="0">
                <a:solidFill>
                  <a:srgbClr val="12B67E"/>
                </a:solidFill>
                <a:latin typeface="Calibri" pitchFamily="34" charset="0"/>
                <a:ea typeface="Calibri" pitchFamily="34" charset="-122"/>
                <a:cs typeface="Calibri" pitchFamily="34" charset="-120"/>
              </a:rPr>
              <a:t>74%</a:t>
            </a:r>
            <a:endParaRPr lang="en-US" sz="4600" dirty="0"/>
          </a:p>
        </p:txBody>
      </p:sp>
      <p:sp>
        <p:nvSpPr>
          <p:cNvPr id="12" name="Text 10"/>
          <p:cNvSpPr txBox="1"/>
          <p:nvPr/>
        </p:nvSpPr>
        <p:spPr>
          <a:xfrm>
            <a:off x="3534156" y="2697480"/>
            <a:ext cx="2336292" cy="457200"/>
          </a:xfrm>
          <a:prstGeom prst="rect">
            <a:avLst/>
          </a:prstGeom>
          <a:noFill/>
          <a:ln/>
        </p:spPr>
        <p:txBody>
          <a:bodyPr wrap="square" lIns="0" tIns="0" rIns="0" bIns="0" rtlCol="0" anchor="ctr"/>
          <a:lstStyle/>
          <a:p>
            <a:pPr marL="0" indent="0" algn="ctr">
              <a:buNone/>
            </a:pPr>
            <a:r>
              <a:rPr lang="en-US" sz="1450" b="1" dirty="0">
                <a:solidFill>
                  <a:srgbClr val="1A2433"/>
                </a:solidFill>
                <a:latin typeface="Calibri" pitchFamily="34" charset="0"/>
                <a:ea typeface="Calibri" pitchFamily="34" charset="-122"/>
                <a:cs typeface="Calibri" pitchFamily="34" charset="-120"/>
              </a:rPr>
              <a:t>on track</a:t>
            </a:r>
            <a:endParaRPr lang="en-US" sz="1450" dirty="0"/>
          </a:p>
        </p:txBody>
      </p:sp>
      <p:sp>
        <p:nvSpPr>
          <p:cNvPr id="13" name="Text 11"/>
          <p:cNvSpPr txBox="1"/>
          <p:nvPr/>
        </p:nvSpPr>
        <p:spPr>
          <a:xfrm>
            <a:off x="3534156" y="3127248"/>
            <a:ext cx="2336292" cy="365760"/>
          </a:xfrm>
          <a:prstGeom prst="rect">
            <a:avLst/>
          </a:prstGeom>
          <a:noFill/>
          <a:ln/>
        </p:spPr>
        <p:txBody>
          <a:bodyPr wrap="square" lIns="0" tIns="0" rIns="0" bIns="0" rtlCol="0" anchor="ctr"/>
          <a:lstStyle/>
          <a:p>
            <a:pPr marL="0" indent="0" algn="ctr">
              <a:buNone/>
            </a:pPr>
            <a:r>
              <a:rPr lang="en-US" sz="1200" dirty="0">
                <a:solidFill>
                  <a:srgbClr val="6B7280"/>
                </a:solidFill>
                <a:latin typeface="Calibri" pitchFamily="34" charset="0"/>
                <a:ea typeface="Calibri" pitchFamily="34" charset="-122"/>
                <a:cs typeface="Calibri" pitchFamily="34" charset="-120"/>
              </a:rPr>
              <a:t>273 complete or in progress</a:t>
            </a:r>
            <a:endParaRPr lang="en-US" sz="1200" dirty="0"/>
          </a:p>
        </p:txBody>
      </p:sp>
      <p:sp>
        <p:nvSpPr>
          <p:cNvPr id="14" name="Shape 12"/>
          <p:cNvSpPr/>
          <p:nvPr/>
        </p:nvSpPr>
        <p:spPr>
          <a:xfrm>
            <a:off x="6208776" y="1600200"/>
            <a:ext cx="2555748" cy="1965960"/>
          </a:xfrm>
          <a:prstGeom prst="roundRect">
            <a:avLst>
              <a:gd name="adj" fmla="val 4186"/>
            </a:avLst>
          </a:prstGeom>
          <a:solidFill>
            <a:srgbClr val="F4F6F8"/>
          </a:solidFill>
          <a:ln w="12700">
            <a:solidFill>
              <a:srgbClr val="D9DEE5"/>
            </a:solidFill>
            <a:prstDash val="solid"/>
          </a:ln>
        </p:spPr>
        <p:txBody>
          <a:bodyPr/>
          <a:lstStyle/>
          <a:p>
            <a:endParaRPr lang="en-US"/>
          </a:p>
        </p:txBody>
      </p:sp>
      <p:sp>
        <p:nvSpPr>
          <p:cNvPr id="15" name="Text 13"/>
          <p:cNvSpPr txBox="1"/>
          <p:nvPr/>
        </p:nvSpPr>
        <p:spPr>
          <a:xfrm>
            <a:off x="6208776" y="1783080"/>
            <a:ext cx="2555748" cy="868680"/>
          </a:xfrm>
          <a:prstGeom prst="rect">
            <a:avLst/>
          </a:prstGeom>
          <a:noFill/>
          <a:ln/>
        </p:spPr>
        <p:txBody>
          <a:bodyPr wrap="square" lIns="0" tIns="0" rIns="0" bIns="0" rtlCol="0" anchor="ctr"/>
          <a:lstStyle/>
          <a:p>
            <a:pPr marL="0" indent="0" algn="ctr">
              <a:buNone/>
            </a:pPr>
            <a:r>
              <a:rPr lang="en-US" sz="4600" b="1" dirty="0">
                <a:solidFill>
                  <a:srgbClr val="E0A83B"/>
                </a:solidFill>
                <a:latin typeface="Calibri" pitchFamily="34" charset="0"/>
                <a:ea typeface="Calibri" pitchFamily="34" charset="-122"/>
                <a:cs typeface="Calibri" pitchFamily="34" charset="-120"/>
              </a:rPr>
              <a:t>97</a:t>
            </a:r>
            <a:endParaRPr lang="en-US" sz="4600" dirty="0"/>
          </a:p>
        </p:txBody>
      </p:sp>
      <p:sp>
        <p:nvSpPr>
          <p:cNvPr id="16" name="Text 14"/>
          <p:cNvSpPr txBox="1"/>
          <p:nvPr/>
        </p:nvSpPr>
        <p:spPr>
          <a:xfrm>
            <a:off x="6318504" y="2697480"/>
            <a:ext cx="2336292" cy="457200"/>
          </a:xfrm>
          <a:prstGeom prst="rect">
            <a:avLst/>
          </a:prstGeom>
          <a:noFill/>
          <a:ln/>
        </p:spPr>
        <p:txBody>
          <a:bodyPr wrap="square" lIns="0" tIns="0" rIns="0" bIns="0" rtlCol="0" anchor="ctr"/>
          <a:lstStyle/>
          <a:p>
            <a:pPr marL="0" indent="0" algn="ctr">
              <a:buNone/>
            </a:pPr>
            <a:r>
              <a:rPr lang="en-US" sz="1450" b="1" dirty="0">
                <a:solidFill>
                  <a:srgbClr val="1A2433"/>
                </a:solidFill>
                <a:latin typeface="Calibri" pitchFamily="34" charset="0"/>
                <a:ea typeface="Calibri" pitchFamily="34" charset="-122"/>
                <a:cs typeface="Calibri" pitchFamily="34" charset="-120"/>
              </a:rPr>
              <a:t>red-flag vendors</a:t>
            </a:r>
            <a:endParaRPr lang="en-US" sz="1450" dirty="0"/>
          </a:p>
        </p:txBody>
      </p:sp>
      <p:sp>
        <p:nvSpPr>
          <p:cNvPr id="17" name="Text 15"/>
          <p:cNvSpPr txBox="1"/>
          <p:nvPr/>
        </p:nvSpPr>
        <p:spPr>
          <a:xfrm>
            <a:off x="6318504" y="3127248"/>
            <a:ext cx="2336292" cy="365760"/>
          </a:xfrm>
          <a:prstGeom prst="rect">
            <a:avLst/>
          </a:prstGeom>
          <a:noFill/>
          <a:ln/>
        </p:spPr>
        <p:txBody>
          <a:bodyPr wrap="square" lIns="0" tIns="0" rIns="0" bIns="0" rtlCol="0" anchor="ctr"/>
          <a:lstStyle/>
          <a:p>
            <a:pPr marL="0" indent="0" algn="ctr">
              <a:buNone/>
            </a:pPr>
            <a:r>
              <a:rPr lang="en-US" sz="1200" dirty="0">
                <a:solidFill>
                  <a:srgbClr val="6B7280"/>
                </a:solidFill>
                <a:latin typeface="Calibri" pitchFamily="34" charset="0"/>
                <a:ea typeface="Calibri" pitchFamily="34" charset="-122"/>
                <a:cs typeface="Calibri" pitchFamily="34" charset="-120"/>
              </a:rPr>
              <a:t>$8.71M annual spend</a:t>
            </a:r>
            <a:endParaRPr lang="en-US" sz="1200" dirty="0"/>
          </a:p>
        </p:txBody>
      </p:sp>
      <p:sp>
        <p:nvSpPr>
          <p:cNvPr id="18" name="Shape 16"/>
          <p:cNvSpPr/>
          <p:nvPr/>
        </p:nvSpPr>
        <p:spPr>
          <a:xfrm>
            <a:off x="8993124" y="1600200"/>
            <a:ext cx="2555748" cy="1965960"/>
          </a:xfrm>
          <a:prstGeom prst="roundRect">
            <a:avLst>
              <a:gd name="adj" fmla="val 4186"/>
            </a:avLst>
          </a:prstGeom>
          <a:solidFill>
            <a:srgbClr val="F4F6F8"/>
          </a:solidFill>
          <a:ln w="12700">
            <a:solidFill>
              <a:srgbClr val="D9DEE5"/>
            </a:solidFill>
            <a:prstDash val="solid"/>
          </a:ln>
        </p:spPr>
        <p:txBody>
          <a:bodyPr/>
          <a:lstStyle/>
          <a:p>
            <a:endParaRPr lang="en-US"/>
          </a:p>
        </p:txBody>
      </p:sp>
      <p:sp>
        <p:nvSpPr>
          <p:cNvPr id="19" name="Text 17"/>
          <p:cNvSpPr txBox="1"/>
          <p:nvPr/>
        </p:nvSpPr>
        <p:spPr>
          <a:xfrm>
            <a:off x="8993124" y="1783080"/>
            <a:ext cx="2555748" cy="868680"/>
          </a:xfrm>
          <a:prstGeom prst="rect">
            <a:avLst/>
          </a:prstGeom>
          <a:noFill/>
          <a:ln/>
        </p:spPr>
        <p:txBody>
          <a:bodyPr wrap="square" lIns="0" tIns="0" rIns="0" bIns="0" rtlCol="0" anchor="ctr"/>
          <a:lstStyle/>
          <a:p>
            <a:pPr marL="0" indent="0" algn="ctr">
              <a:buNone/>
            </a:pPr>
            <a:r>
              <a:rPr lang="en-US" sz="4600" b="1" dirty="0">
                <a:solidFill>
                  <a:srgbClr val="D8654F"/>
                </a:solidFill>
                <a:latin typeface="Calibri" pitchFamily="34" charset="0"/>
                <a:ea typeface="Calibri" pitchFamily="34" charset="-122"/>
                <a:cs typeface="Calibri" pitchFamily="34" charset="-120"/>
              </a:rPr>
              <a:t>32</a:t>
            </a:r>
            <a:endParaRPr lang="en-US" sz="4600" dirty="0"/>
          </a:p>
        </p:txBody>
      </p:sp>
      <p:sp>
        <p:nvSpPr>
          <p:cNvPr id="20" name="Text 18"/>
          <p:cNvSpPr txBox="1"/>
          <p:nvPr/>
        </p:nvSpPr>
        <p:spPr>
          <a:xfrm>
            <a:off x="9102852" y="2697480"/>
            <a:ext cx="2336292" cy="457200"/>
          </a:xfrm>
          <a:prstGeom prst="rect">
            <a:avLst/>
          </a:prstGeom>
          <a:noFill/>
          <a:ln/>
        </p:spPr>
        <p:txBody>
          <a:bodyPr wrap="square" lIns="0" tIns="0" rIns="0" bIns="0" rtlCol="0" anchor="ctr"/>
          <a:lstStyle/>
          <a:p>
            <a:pPr marL="0" indent="0" algn="ctr">
              <a:buNone/>
            </a:pPr>
            <a:r>
              <a:rPr lang="en-US" sz="1450" b="1" dirty="0">
                <a:solidFill>
                  <a:srgbClr val="1A2433"/>
                </a:solidFill>
                <a:latin typeface="Calibri" pitchFamily="34" charset="0"/>
                <a:ea typeface="Calibri" pitchFamily="34" charset="-122"/>
                <a:cs typeface="Calibri" pitchFamily="34" charset="-120"/>
              </a:rPr>
              <a:t>critical suppliers at risk</a:t>
            </a:r>
            <a:endParaRPr lang="en-US" sz="1450" dirty="0"/>
          </a:p>
        </p:txBody>
      </p:sp>
      <p:sp>
        <p:nvSpPr>
          <p:cNvPr id="21" name="Text 19"/>
          <p:cNvSpPr txBox="1"/>
          <p:nvPr/>
        </p:nvSpPr>
        <p:spPr>
          <a:xfrm>
            <a:off x="9102852" y="3127248"/>
            <a:ext cx="2336292" cy="365760"/>
          </a:xfrm>
          <a:prstGeom prst="rect">
            <a:avLst/>
          </a:prstGeom>
          <a:noFill/>
          <a:ln/>
        </p:spPr>
        <p:txBody>
          <a:bodyPr wrap="square" lIns="0" tIns="0" rIns="0" bIns="0" rtlCol="0" anchor="ctr"/>
          <a:lstStyle/>
          <a:p>
            <a:pPr marL="0" indent="0" algn="ctr">
              <a:buNone/>
            </a:pPr>
            <a:r>
              <a:rPr lang="en-US" sz="1200" dirty="0">
                <a:solidFill>
                  <a:srgbClr val="6B7280"/>
                </a:solidFill>
                <a:latin typeface="Calibri" pitchFamily="34" charset="0"/>
                <a:ea typeface="Calibri" pitchFamily="34" charset="-122"/>
                <a:cs typeface="Calibri" pitchFamily="34" charset="-120"/>
              </a:rPr>
              <a:t>$5.55M not yet secured</a:t>
            </a:r>
            <a:endParaRPr lang="en-US" sz="1200" dirty="0"/>
          </a:p>
        </p:txBody>
      </p:sp>
      <p:sp>
        <p:nvSpPr>
          <p:cNvPr id="22" name="Shape 20"/>
          <p:cNvSpPr/>
          <p:nvPr/>
        </p:nvSpPr>
        <p:spPr>
          <a:xfrm>
            <a:off x="640080" y="4892040"/>
            <a:ext cx="10908792" cy="1325880"/>
          </a:xfrm>
          <a:prstGeom prst="roundRect">
            <a:avLst>
              <a:gd name="adj" fmla="val 5517"/>
            </a:avLst>
          </a:prstGeom>
          <a:solidFill>
            <a:srgbClr val="EAF7F1"/>
          </a:solidFill>
          <a:ln w="12700">
            <a:solidFill>
              <a:srgbClr val="CDEBDD"/>
            </a:solidFill>
            <a:prstDash val="solid"/>
          </a:ln>
        </p:spPr>
        <p:txBody>
          <a:bodyPr/>
          <a:lstStyle/>
          <a:p>
            <a:endParaRPr lang="en-US"/>
          </a:p>
        </p:txBody>
      </p:sp>
      <p:sp>
        <p:nvSpPr>
          <p:cNvPr id="23" name="Text 21"/>
          <p:cNvSpPr txBox="1"/>
          <p:nvPr/>
        </p:nvSpPr>
        <p:spPr>
          <a:xfrm>
            <a:off x="914400" y="5038344"/>
            <a:ext cx="2743200" cy="274320"/>
          </a:xfrm>
          <a:prstGeom prst="rect">
            <a:avLst/>
          </a:prstGeom>
          <a:noFill/>
          <a:ln/>
        </p:spPr>
        <p:txBody>
          <a:bodyPr wrap="square" lIns="0" tIns="0" rIns="0" bIns="0" rtlCol="0" anchor="ctr"/>
          <a:lstStyle/>
          <a:p>
            <a:pPr marL="0" indent="0">
              <a:buNone/>
            </a:pPr>
            <a:r>
              <a:rPr lang="en-US" sz="1200" b="1" kern="0" spc="200" dirty="0">
                <a:solidFill>
                  <a:srgbClr val="0E8F63"/>
                </a:solidFill>
                <a:latin typeface="Calibri" pitchFamily="34" charset="0"/>
                <a:ea typeface="Calibri" pitchFamily="34" charset="-122"/>
                <a:cs typeface="Calibri" pitchFamily="34" charset="-120"/>
              </a:rPr>
              <a:t>TAKEAWAY</a:t>
            </a:r>
            <a:endParaRPr lang="en-US" sz="1200" dirty="0"/>
          </a:p>
        </p:txBody>
      </p:sp>
      <p:sp>
        <p:nvSpPr>
          <p:cNvPr id="24" name="Text 22"/>
          <p:cNvSpPr txBox="1"/>
          <p:nvPr/>
        </p:nvSpPr>
        <p:spPr>
          <a:xfrm>
            <a:off x="914400" y="5312664"/>
            <a:ext cx="10378440" cy="822960"/>
          </a:xfrm>
          <a:prstGeom prst="rect">
            <a:avLst/>
          </a:prstGeom>
          <a:noFill/>
          <a:ln/>
        </p:spPr>
        <p:txBody>
          <a:bodyPr wrap="square" lIns="0" tIns="0" rIns="0" bIns="0" rtlCol="0" anchor="ctr"/>
          <a:lstStyle/>
          <a:p>
            <a:pPr marL="0" indent="0">
              <a:lnSpc>
                <a:spcPct val="104000"/>
              </a:lnSpc>
              <a:buNone/>
            </a:pPr>
            <a:r>
              <a:rPr lang="en-US" sz="1450" dirty="0">
                <a:solidFill>
                  <a:srgbClr val="1A2433"/>
                </a:solidFill>
                <a:latin typeface="Calibri" pitchFamily="34" charset="0"/>
                <a:ea typeface="Calibri" pitchFamily="34" charset="-122"/>
                <a:cs typeface="Calibri" pitchFamily="34" charset="-120"/>
              </a:rPr>
              <a:t>Of the 129 critical suppliers (the services an arena cannot open without: HVAC, electrical, security, fire and life safety, elevators), 32 are delayed or unresponsive, carrying $5.55M. That number, not the 38% headline, sets the agenda. The question is not "are we behind?" but "are the doors-open services locked down?"</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12B67E"/>
          </a:solidFill>
          <a:ln/>
        </p:spPr>
        <p:txBody>
          <a:bodyPr/>
          <a:lstStyle/>
          <a:p>
            <a:endParaRPr lang="en-US"/>
          </a:p>
        </p:txBody>
      </p:sp>
      <p:sp>
        <p:nvSpPr>
          <p:cNvPr id="3" name="Text 1"/>
          <p:cNvSpPr txBox="1"/>
          <p:nvPr/>
        </p:nvSpPr>
        <p:spPr>
          <a:xfrm>
            <a:off x="640080" y="457200"/>
            <a:ext cx="566928" cy="566928"/>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02</a:t>
            </a:r>
            <a:endParaRPr lang="en-US" sz="1700" dirty="0"/>
          </a:p>
        </p:txBody>
      </p:sp>
      <p:sp>
        <p:nvSpPr>
          <p:cNvPr id="4" name="Text 2"/>
          <p:cNvSpPr txBox="1"/>
          <p:nvPr/>
        </p:nvSpPr>
        <p:spPr>
          <a:xfrm>
            <a:off x="1371600" y="457200"/>
            <a:ext cx="10149840" cy="274320"/>
          </a:xfrm>
          <a:prstGeom prst="rect">
            <a:avLst/>
          </a:prstGeom>
          <a:noFill/>
          <a:ln/>
        </p:spPr>
        <p:txBody>
          <a:bodyPr wrap="square" lIns="0" tIns="0" rIns="0" bIns="0" rtlCol="0" anchor="ctr"/>
          <a:lstStyle/>
          <a:p>
            <a:pPr marL="0" indent="0">
              <a:buNone/>
            </a:pPr>
            <a:r>
              <a:rPr lang="en-US" sz="1200" b="1" kern="0" spc="200" dirty="0">
                <a:solidFill>
                  <a:srgbClr val="0E8F63"/>
                </a:solidFill>
                <a:latin typeface="Calibri" pitchFamily="34" charset="0"/>
                <a:ea typeface="Calibri" pitchFamily="34" charset="-122"/>
                <a:cs typeface="Calibri" pitchFamily="34" charset="-120"/>
              </a:rPr>
              <a:t>PROGRESS OVERVIEW</a:t>
            </a:r>
            <a:endParaRPr lang="en-US" sz="1200" dirty="0"/>
          </a:p>
        </p:txBody>
      </p:sp>
      <p:sp>
        <p:nvSpPr>
          <p:cNvPr id="5" name="Text 3"/>
          <p:cNvSpPr txBox="1"/>
          <p:nvPr/>
        </p:nvSpPr>
        <p:spPr>
          <a:xfrm>
            <a:off x="1371600" y="713232"/>
            <a:ext cx="10241280" cy="548640"/>
          </a:xfrm>
          <a:prstGeom prst="rect">
            <a:avLst/>
          </a:prstGeom>
          <a:noFill/>
          <a:ln/>
        </p:spPr>
        <p:txBody>
          <a:bodyPr wrap="square" lIns="0" tIns="0" rIns="0" bIns="0" rtlCol="0" anchor="ctr"/>
          <a:lstStyle/>
          <a:p>
            <a:pPr marL="0" indent="0">
              <a:buNone/>
            </a:pPr>
            <a:r>
              <a:rPr lang="en-US" sz="2600" b="1" dirty="0">
                <a:solidFill>
                  <a:srgbClr val="1A2433"/>
                </a:solidFill>
                <a:latin typeface="Calibri" pitchFamily="34" charset="0"/>
                <a:ea typeface="Calibri" pitchFamily="34" charset="-122"/>
                <a:cs typeface="Calibri" pitchFamily="34" charset="-120"/>
              </a:rPr>
              <a:t>The status mix across all 370 vendors</a:t>
            </a:r>
            <a:endParaRPr lang="en-US" sz="2600" dirty="0"/>
          </a:p>
        </p:txBody>
      </p:sp>
      <p:graphicFrame>
        <p:nvGraphicFramePr>
          <p:cNvPr id="6" name="Chart 0"/>
          <p:cNvGraphicFramePr/>
          <p:nvPr/>
        </p:nvGraphicFramePr>
        <p:xfrm>
          <a:off x="640080" y="1600200"/>
          <a:ext cx="475488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1481328" y="2788920"/>
            <a:ext cx="1234440" cy="502920"/>
          </a:xfrm>
          <a:prstGeom prst="rect">
            <a:avLst/>
          </a:prstGeom>
          <a:noFill/>
          <a:ln/>
        </p:spPr>
        <p:txBody>
          <a:bodyPr wrap="square" lIns="0" tIns="0" rIns="0" bIns="0" rtlCol="0" anchor="ctr"/>
          <a:lstStyle/>
          <a:p>
            <a:pPr marL="0" indent="0" algn="ctr">
              <a:buNone/>
            </a:pPr>
            <a:r>
              <a:rPr lang="en-US" sz="3000" b="1" dirty="0">
                <a:solidFill>
                  <a:srgbClr val="1A2433"/>
                </a:solidFill>
                <a:latin typeface="Calibri" pitchFamily="34" charset="0"/>
                <a:ea typeface="Calibri" pitchFamily="34" charset="-122"/>
                <a:cs typeface="Calibri" pitchFamily="34" charset="-120"/>
              </a:rPr>
              <a:t>370</a:t>
            </a:r>
            <a:endParaRPr lang="en-US" sz="3000" dirty="0"/>
          </a:p>
        </p:txBody>
      </p:sp>
      <p:sp>
        <p:nvSpPr>
          <p:cNvPr id="8" name="Text 5"/>
          <p:cNvSpPr txBox="1"/>
          <p:nvPr/>
        </p:nvSpPr>
        <p:spPr>
          <a:xfrm>
            <a:off x="1481328" y="3291840"/>
            <a:ext cx="1234440" cy="274320"/>
          </a:xfrm>
          <a:prstGeom prst="rect">
            <a:avLst/>
          </a:prstGeom>
          <a:noFill/>
          <a:ln/>
        </p:spPr>
        <p:txBody>
          <a:bodyPr wrap="square" lIns="0" tIns="0" rIns="0" bIns="0" rtlCol="0" anchor="ctr"/>
          <a:lstStyle/>
          <a:p>
            <a:pPr marL="0" indent="0" algn="ctr">
              <a:buNone/>
            </a:pPr>
            <a:r>
              <a:rPr lang="en-US" sz="1200" dirty="0">
                <a:solidFill>
                  <a:srgbClr val="6B7280"/>
                </a:solidFill>
                <a:latin typeface="Calibri" pitchFamily="34" charset="0"/>
                <a:ea typeface="Calibri" pitchFamily="34" charset="-122"/>
                <a:cs typeface="Calibri" pitchFamily="34" charset="-120"/>
              </a:rPr>
              <a:t>vendors</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806440" y="1691640"/>
          <a:ext cx="5742432" cy="2852928"/>
        </p:xfrm>
        <a:graphic>
          <a:graphicData uri="http://schemas.openxmlformats.org/drawingml/2006/table">
            <a:tbl>
              <a:tblPr/>
              <a:tblGrid>
                <a:gridCol w="3364992">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475488">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Status</a:t>
                      </a:r>
                      <a:endParaRPr lang="en-US" sz="13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0E2138"/>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Vendors</a:t>
                      </a:r>
                      <a:endParaRPr lang="en-US" sz="13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0E2138"/>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Share</a:t>
                      </a:r>
                      <a:endParaRPr lang="en-US" sz="13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0E2138"/>
                    </a:solidFill>
                  </a:tcPr>
                </a:tc>
                <a:extLst>
                  <a:ext uri="{0D108BD9-81ED-4DB2-BD59-A6C34878D82A}">
                    <a16:rowId xmlns:a16="http://schemas.microsoft.com/office/drawing/2014/main" val="10000"/>
                  </a:ext>
                </a:extLst>
              </a:tr>
              <a:tr h="475488">
                <a:tc>
                  <a:txBody>
                    <a:bodyPr/>
                    <a:lstStyle/>
                    <a:p>
                      <a:pPr marL="0" indent="0" algn="l">
                        <a:buNone/>
                      </a:pPr>
                      <a:r>
                        <a:rPr lang="en-US" sz="1300" b="1" dirty="0">
                          <a:solidFill>
                            <a:srgbClr val="1A2433"/>
                          </a:solidFill>
                          <a:latin typeface="Calibri" pitchFamily="34" charset="0"/>
                          <a:ea typeface="Calibri" pitchFamily="34" charset="-122"/>
                          <a:cs typeface="Calibri" pitchFamily="34" charset="-120"/>
                        </a:rPr>
                        <a:t>Complete</a:t>
                      </a:r>
                      <a:endParaRPr lang="en-US" sz="13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tc>
                  <a:txBody>
                    <a:bodyPr/>
                    <a:lstStyle/>
                    <a:p>
                      <a:pPr marL="0" indent="0" algn="ctr">
                        <a:buNone/>
                      </a:pPr>
                      <a:r>
                        <a:rPr lang="en-US" sz="1300" dirty="0">
                          <a:solidFill>
                            <a:srgbClr val="1A2433"/>
                          </a:solidFill>
                          <a:latin typeface="Calibri" pitchFamily="34" charset="0"/>
                          <a:ea typeface="Calibri" pitchFamily="34" charset="-122"/>
                          <a:cs typeface="Calibri" pitchFamily="34" charset="-120"/>
                        </a:rPr>
                        <a:t>140</a:t>
                      </a:r>
                      <a:endParaRPr lang="en-US" sz="13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tc>
                  <a:txBody>
                    <a:bodyPr/>
                    <a:lstStyle/>
                    <a:p>
                      <a:pPr marL="0" indent="0" algn="ctr">
                        <a:buNone/>
                      </a:pPr>
                      <a:r>
                        <a:rPr lang="en-US" sz="1300" dirty="0">
                          <a:solidFill>
                            <a:srgbClr val="1A2433"/>
                          </a:solidFill>
                          <a:latin typeface="Calibri" pitchFamily="34" charset="0"/>
                          <a:ea typeface="Calibri" pitchFamily="34" charset="-122"/>
                          <a:cs typeface="Calibri" pitchFamily="34" charset="-120"/>
                        </a:rPr>
                        <a:t>38%</a:t>
                      </a:r>
                      <a:endParaRPr lang="en-US" sz="13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extLst>
                  <a:ext uri="{0D108BD9-81ED-4DB2-BD59-A6C34878D82A}">
                    <a16:rowId xmlns:a16="http://schemas.microsoft.com/office/drawing/2014/main" val="10001"/>
                  </a:ext>
                </a:extLst>
              </a:tr>
              <a:tr h="475488">
                <a:tc>
                  <a:txBody>
                    <a:bodyPr/>
                    <a:lstStyle/>
                    <a:p>
                      <a:pPr marL="0" indent="0" algn="l">
                        <a:buNone/>
                      </a:pPr>
                      <a:r>
                        <a:rPr lang="en-US" sz="1300" b="1" dirty="0">
                          <a:solidFill>
                            <a:srgbClr val="1A2433"/>
                          </a:solidFill>
                          <a:latin typeface="Calibri" pitchFamily="34" charset="0"/>
                          <a:ea typeface="Calibri" pitchFamily="34" charset="-122"/>
                          <a:cs typeface="Calibri" pitchFamily="34" charset="-120"/>
                        </a:rPr>
                        <a:t>Received (in progress)</a:t>
                      </a:r>
                      <a:endParaRPr lang="en-US" sz="13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433"/>
                          </a:solidFill>
                          <a:latin typeface="Calibri" pitchFamily="34" charset="0"/>
                          <a:ea typeface="Calibri" pitchFamily="34" charset="-122"/>
                          <a:cs typeface="Calibri" pitchFamily="34" charset="-120"/>
                        </a:rPr>
                        <a:t>133</a:t>
                      </a:r>
                      <a:endParaRPr lang="en-US" sz="13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433"/>
                          </a:solidFill>
                          <a:latin typeface="Calibri" pitchFamily="34" charset="0"/>
                          <a:ea typeface="Calibri" pitchFamily="34" charset="-122"/>
                          <a:cs typeface="Calibri" pitchFamily="34" charset="-120"/>
                        </a:rPr>
                        <a:t>36%</a:t>
                      </a:r>
                      <a:endParaRPr lang="en-US" sz="13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lgn="l">
                        <a:buNone/>
                      </a:pPr>
                      <a:r>
                        <a:rPr lang="en-US" sz="1300" b="1" dirty="0">
                          <a:solidFill>
                            <a:srgbClr val="1A2433"/>
                          </a:solidFill>
                          <a:latin typeface="Calibri" pitchFamily="34" charset="0"/>
                          <a:ea typeface="Calibri" pitchFamily="34" charset="-122"/>
                          <a:cs typeface="Calibri" pitchFamily="34" charset="-120"/>
                        </a:rPr>
                        <a:t>Delayed</a:t>
                      </a:r>
                      <a:endParaRPr lang="en-US" sz="13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tc>
                  <a:txBody>
                    <a:bodyPr/>
                    <a:lstStyle/>
                    <a:p>
                      <a:pPr marL="0" indent="0" algn="ctr">
                        <a:buNone/>
                      </a:pPr>
                      <a:r>
                        <a:rPr lang="en-US" sz="1300" dirty="0">
                          <a:solidFill>
                            <a:srgbClr val="1A2433"/>
                          </a:solidFill>
                          <a:latin typeface="Calibri" pitchFamily="34" charset="0"/>
                          <a:ea typeface="Calibri" pitchFamily="34" charset="-122"/>
                          <a:cs typeface="Calibri" pitchFamily="34" charset="-120"/>
                        </a:rPr>
                        <a:t>62</a:t>
                      </a:r>
                      <a:endParaRPr lang="en-US" sz="13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tc>
                  <a:txBody>
                    <a:bodyPr/>
                    <a:lstStyle/>
                    <a:p>
                      <a:pPr marL="0" indent="0" algn="ctr">
                        <a:buNone/>
                      </a:pPr>
                      <a:r>
                        <a:rPr lang="en-US" sz="1300" dirty="0">
                          <a:solidFill>
                            <a:srgbClr val="1A2433"/>
                          </a:solidFill>
                          <a:latin typeface="Calibri" pitchFamily="34" charset="0"/>
                          <a:ea typeface="Calibri" pitchFamily="34" charset="-122"/>
                          <a:cs typeface="Calibri" pitchFamily="34" charset="-120"/>
                        </a:rPr>
                        <a:t>17%</a:t>
                      </a:r>
                      <a:endParaRPr lang="en-US" sz="13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extLst>
                  <a:ext uri="{0D108BD9-81ED-4DB2-BD59-A6C34878D82A}">
                    <a16:rowId xmlns:a16="http://schemas.microsoft.com/office/drawing/2014/main" val="10003"/>
                  </a:ext>
                </a:extLst>
              </a:tr>
              <a:tr h="475488">
                <a:tc>
                  <a:txBody>
                    <a:bodyPr/>
                    <a:lstStyle/>
                    <a:p>
                      <a:pPr marL="0" indent="0" algn="l">
                        <a:buNone/>
                      </a:pPr>
                      <a:r>
                        <a:rPr lang="en-US" sz="1300" b="1" dirty="0">
                          <a:solidFill>
                            <a:srgbClr val="1A2433"/>
                          </a:solidFill>
                          <a:latin typeface="Calibri" pitchFamily="34" charset="0"/>
                          <a:ea typeface="Calibri" pitchFamily="34" charset="-122"/>
                          <a:cs typeface="Calibri" pitchFamily="34" charset="-120"/>
                        </a:rPr>
                        <a:t>Delayed (EOD)</a:t>
                      </a:r>
                      <a:endParaRPr lang="en-US" sz="13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433"/>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433"/>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lgn="l">
                        <a:buNone/>
                      </a:pPr>
                      <a:r>
                        <a:rPr lang="en-US" sz="1300" b="1" dirty="0">
                          <a:solidFill>
                            <a:srgbClr val="1A2433"/>
                          </a:solidFill>
                          <a:latin typeface="Calibri" pitchFamily="34" charset="0"/>
                          <a:ea typeface="Calibri" pitchFamily="34" charset="-122"/>
                          <a:cs typeface="Calibri" pitchFamily="34" charset="-120"/>
                        </a:rPr>
                        <a:t>Poor Communication</a:t>
                      </a:r>
                      <a:endParaRPr lang="en-US" sz="13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tc>
                  <a:txBody>
                    <a:bodyPr/>
                    <a:lstStyle/>
                    <a:p>
                      <a:pPr marL="0" indent="0" algn="ctr">
                        <a:buNone/>
                      </a:pPr>
                      <a:r>
                        <a:rPr lang="en-US" sz="1300" dirty="0">
                          <a:solidFill>
                            <a:srgbClr val="1A2433"/>
                          </a:solidFill>
                          <a:latin typeface="Calibri" pitchFamily="34" charset="0"/>
                          <a:ea typeface="Calibri" pitchFamily="34" charset="-122"/>
                          <a:cs typeface="Calibri" pitchFamily="34" charset="-120"/>
                        </a:rPr>
                        <a:t>23</a:t>
                      </a:r>
                      <a:endParaRPr lang="en-US" sz="13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tc>
                  <a:txBody>
                    <a:bodyPr/>
                    <a:lstStyle/>
                    <a:p>
                      <a:pPr marL="0" indent="0" algn="ctr">
                        <a:buNone/>
                      </a:pPr>
                      <a:r>
                        <a:rPr lang="en-US" sz="1300" dirty="0">
                          <a:solidFill>
                            <a:srgbClr val="1A2433"/>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extLst>
                  <a:ext uri="{0D108BD9-81ED-4DB2-BD59-A6C34878D82A}">
                    <a16:rowId xmlns:a16="http://schemas.microsoft.com/office/drawing/2014/main" val="10005"/>
                  </a:ext>
                </a:extLst>
              </a:tr>
            </a:tbl>
          </a:graphicData>
        </a:graphic>
      </p:graphicFrame>
      <p:sp>
        <p:nvSpPr>
          <p:cNvPr id="10" name="Shape 6"/>
          <p:cNvSpPr/>
          <p:nvPr/>
        </p:nvSpPr>
        <p:spPr>
          <a:xfrm>
            <a:off x="640080" y="5029200"/>
            <a:ext cx="10908792" cy="1325880"/>
          </a:xfrm>
          <a:prstGeom prst="roundRect">
            <a:avLst>
              <a:gd name="adj" fmla="val 5517"/>
            </a:avLst>
          </a:prstGeom>
          <a:solidFill>
            <a:srgbClr val="EAF7F1"/>
          </a:solidFill>
          <a:ln w="12700">
            <a:solidFill>
              <a:srgbClr val="CDEBDD"/>
            </a:solidFill>
            <a:prstDash val="solid"/>
          </a:ln>
        </p:spPr>
        <p:txBody>
          <a:bodyPr/>
          <a:lstStyle/>
          <a:p>
            <a:endParaRPr lang="en-US"/>
          </a:p>
        </p:txBody>
      </p:sp>
      <p:sp>
        <p:nvSpPr>
          <p:cNvPr id="11" name="Text 7"/>
          <p:cNvSpPr txBox="1"/>
          <p:nvPr/>
        </p:nvSpPr>
        <p:spPr>
          <a:xfrm>
            <a:off x="914400" y="5175504"/>
            <a:ext cx="2743200" cy="274320"/>
          </a:xfrm>
          <a:prstGeom prst="rect">
            <a:avLst/>
          </a:prstGeom>
          <a:noFill/>
          <a:ln/>
        </p:spPr>
        <p:txBody>
          <a:bodyPr wrap="square" lIns="0" tIns="0" rIns="0" bIns="0" rtlCol="0" anchor="ctr"/>
          <a:lstStyle/>
          <a:p>
            <a:pPr marL="0" indent="0">
              <a:buNone/>
            </a:pPr>
            <a:r>
              <a:rPr lang="en-US" sz="1200" b="1" kern="0" spc="200" dirty="0">
                <a:solidFill>
                  <a:srgbClr val="0E8F63"/>
                </a:solidFill>
                <a:latin typeface="Calibri" pitchFamily="34" charset="0"/>
                <a:ea typeface="Calibri" pitchFamily="34" charset="-122"/>
                <a:cs typeface="Calibri" pitchFamily="34" charset="-120"/>
              </a:rPr>
              <a:t>TAKEAWAY</a:t>
            </a:r>
            <a:endParaRPr lang="en-US" sz="1200" dirty="0"/>
          </a:p>
        </p:txBody>
      </p:sp>
      <p:sp>
        <p:nvSpPr>
          <p:cNvPr id="12" name="Text 8"/>
          <p:cNvSpPr txBox="1"/>
          <p:nvPr/>
        </p:nvSpPr>
        <p:spPr>
          <a:xfrm>
            <a:off x="914400" y="5449824"/>
            <a:ext cx="10378440" cy="822960"/>
          </a:xfrm>
          <a:prstGeom prst="rect">
            <a:avLst/>
          </a:prstGeom>
          <a:noFill/>
          <a:ln/>
        </p:spPr>
        <p:txBody>
          <a:bodyPr wrap="square" lIns="0" tIns="0" rIns="0" bIns="0" rtlCol="0" anchor="ctr"/>
          <a:lstStyle/>
          <a:p>
            <a:pPr marL="0" indent="0">
              <a:lnSpc>
                <a:spcPct val="104000"/>
              </a:lnSpc>
              <a:buNone/>
            </a:pPr>
            <a:r>
              <a:rPr lang="en-US" sz="1450" dirty="0">
                <a:solidFill>
                  <a:srgbClr val="1A2433"/>
                </a:solidFill>
                <a:latin typeface="Calibri" pitchFamily="34" charset="0"/>
                <a:ea typeface="Calibri" pitchFamily="34" charset="-122"/>
                <a:cs typeface="Calibri" pitchFamily="34" charset="-120"/>
              </a:rPr>
              <a:t>Three of every four vendors are moving through the pipeline as intended. The onboarding machine works. The open question is not whether it functions, but whether it is finishing the right vendors in time.</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12B67E"/>
          </a:solidFill>
          <a:ln/>
        </p:spPr>
        <p:txBody>
          <a:bodyPr/>
          <a:lstStyle/>
          <a:p>
            <a:endParaRPr lang="en-US"/>
          </a:p>
        </p:txBody>
      </p:sp>
      <p:sp>
        <p:nvSpPr>
          <p:cNvPr id="3" name="Text 1"/>
          <p:cNvSpPr txBox="1"/>
          <p:nvPr/>
        </p:nvSpPr>
        <p:spPr>
          <a:xfrm>
            <a:off x="640080" y="457200"/>
            <a:ext cx="566928" cy="566928"/>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03</a:t>
            </a:r>
            <a:endParaRPr lang="en-US" sz="1700" dirty="0"/>
          </a:p>
        </p:txBody>
      </p:sp>
      <p:sp>
        <p:nvSpPr>
          <p:cNvPr id="4" name="Text 2"/>
          <p:cNvSpPr txBox="1"/>
          <p:nvPr/>
        </p:nvSpPr>
        <p:spPr>
          <a:xfrm>
            <a:off x="1371600" y="457200"/>
            <a:ext cx="10149840" cy="274320"/>
          </a:xfrm>
          <a:prstGeom prst="rect">
            <a:avLst/>
          </a:prstGeom>
          <a:noFill/>
          <a:ln/>
        </p:spPr>
        <p:txBody>
          <a:bodyPr wrap="square" lIns="0" tIns="0" rIns="0" bIns="0" rtlCol="0" anchor="ctr"/>
          <a:lstStyle/>
          <a:p>
            <a:pPr marL="0" indent="0">
              <a:buNone/>
            </a:pPr>
            <a:r>
              <a:rPr lang="en-US" sz="1200" b="1" kern="0" spc="200" dirty="0">
                <a:solidFill>
                  <a:srgbClr val="0E8F63"/>
                </a:solidFill>
                <a:latin typeface="Calibri" pitchFamily="34" charset="0"/>
                <a:ea typeface="Calibri" pitchFamily="34" charset="-122"/>
                <a:cs typeface="Calibri" pitchFamily="34" charset="-120"/>
              </a:rPr>
              <a:t>THE RISK VIEW</a:t>
            </a:r>
            <a:endParaRPr lang="en-US" sz="1200" dirty="0"/>
          </a:p>
        </p:txBody>
      </p:sp>
      <p:sp>
        <p:nvSpPr>
          <p:cNvPr id="5" name="Text 3"/>
          <p:cNvSpPr txBox="1"/>
          <p:nvPr/>
        </p:nvSpPr>
        <p:spPr>
          <a:xfrm>
            <a:off x="1371600" y="713232"/>
            <a:ext cx="10241280" cy="548640"/>
          </a:xfrm>
          <a:prstGeom prst="rect">
            <a:avLst/>
          </a:prstGeom>
          <a:noFill/>
          <a:ln/>
        </p:spPr>
        <p:txBody>
          <a:bodyPr wrap="square" lIns="0" tIns="0" rIns="0" bIns="0" rtlCol="0" anchor="ctr"/>
          <a:lstStyle/>
          <a:p>
            <a:pPr marL="0" indent="0">
              <a:buNone/>
            </a:pPr>
            <a:r>
              <a:rPr lang="en-US" sz="2600" b="1" dirty="0">
                <a:solidFill>
                  <a:srgbClr val="1A2433"/>
                </a:solidFill>
                <a:latin typeface="Calibri" pitchFamily="34" charset="0"/>
                <a:ea typeface="Calibri" pitchFamily="34" charset="-122"/>
                <a:cs typeface="Calibri" pitchFamily="34" charset="-120"/>
              </a:rPr>
              <a:t>Critical-supplier readiness, the number that matters for an arena</a:t>
            </a:r>
            <a:endParaRPr lang="en-US" sz="2600" dirty="0"/>
          </a:p>
        </p:txBody>
      </p:sp>
      <p:sp>
        <p:nvSpPr>
          <p:cNvPr id="6" name="Shape 4"/>
          <p:cNvSpPr/>
          <p:nvPr/>
        </p:nvSpPr>
        <p:spPr>
          <a:xfrm>
            <a:off x="640080" y="1645920"/>
            <a:ext cx="3931920" cy="3063240"/>
          </a:xfrm>
          <a:prstGeom prst="roundRect">
            <a:avLst>
              <a:gd name="adj" fmla="val 2687"/>
            </a:avLst>
          </a:prstGeom>
          <a:solidFill>
            <a:srgbClr val="0E2138"/>
          </a:solidFill>
          <a:ln/>
        </p:spPr>
        <p:txBody>
          <a:bodyPr/>
          <a:lstStyle/>
          <a:p>
            <a:endParaRPr lang="en-US"/>
          </a:p>
        </p:txBody>
      </p:sp>
      <p:sp>
        <p:nvSpPr>
          <p:cNvPr id="7" name="Text 5"/>
          <p:cNvSpPr txBox="1"/>
          <p:nvPr/>
        </p:nvSpPr>
        <p:spPr>
          <a:xfrm>
            <a:off x="640080" y="1920240"/>
            <a:ext cx="3931920" cy="822960"/>
          </a:xfrm>
          <a:prstGeom prst="rect">
            <a:avLst/>
          </a:prstGeom>
          <a:noFill/>
          <a:ln/>
        </p:spPr>
        <p:txBody>
          <a:bodyPr wrap="square" lIns="0" tIns="0" rIns="0" bIns="0" rtlCol="0" anchor="ctr"/>
          <a:lstStyle/>
          <a:p>
            <a:pPr marL="0" indent="0" algn="ctr">
              <a:buNone/>
            </a:pPr>
            <a:r>
              <a:rPr lang="en-US" sz="4600" b="1" dirty="0">
                <a:solidFill>
                  <a:srgbClr val="12B67E"/>
                </a:solidFill>
                <a:latin typeface="Calibri" pitchFamily="34" charset="0"/>
                <a:ea typeface="Calibri" pitchFamily="34" charset="-122"/>
                <a:cs typeface="Calibri" pitchFamily="34" charset="-120"/>
              </a:rPr>
              <a:t>$5.55M</a:t>
            </a:r>
            <a:endParaRPr lang="en-US" sz="4600" dirty="0"/>
          </a:p>
        </p:txBody>
      </p:sp>
      <p:sp>
        <p:nvSpPr>
          <p:cNvPr id="8" name="Text 6"/>
          <p:cNvSpPr txBox="1"/>
          <p:nvPr/>
        </p:nvSpPr>
        <p:spPr>
          <a:xfrm>
            <a:off x="868680" y="2743200"/>
            <a:ext cx="3474720" cy="548640"/>
          </a:xfrm>
          <a:prstGeom prst="rect">
            <a:avLst/>
          </a:prstGeom>
          <a:noFill/>
          <a:ln/>
        </p:spPr>
        <p:txBody>
          <a:bodyPr wrap="square" lIns="0" tIns="0" rIns="0" bIns="0" rtlCol="0" anchor="ctr"/>
          <a:lstStyle/>
          <a:p>
            <a:pPr marL="0" indent="0" algn="ctr">
              <a:buNone/>
            </a:pPr>
            <a:r>
              <a:rPr lang="en-US" sz="1400" dirty="0">
                <a:solidFill>
                  <a:srgbClr val="CFE0EE"/>
                </a:solidFill>
                <a:latin typeface="Calibri" pitchFamily="34" charset="0"/>
                <a:ea typeface="Calibri" pitchFamily="34" charset="-122"/>
                <a:cs typeface="Calibri" pitchFamily="34" charset="-120"/>
              </a:rPr>
              <a:t>in essential-services spend not yet secured</a:t>
            </a:r>
            <a:endParaRPr lang="en-US" sz="1400" dirty="0"/>
          </a:p>
        </p:txBody>
      </p:sp>
      <p:sp>
        <p:nvSpPr>
          <p:cNvPr id="9" name="Text 7"/>
          <p:cNvSpPr txBox="1"/>
          <p:nvPr/>
        </p:nvSpPr>
        <p:spPr>
          <a:xfrm>
            <a:off x="640080" y="3429000"/>
            <a:ext cx="3931920"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32 of 129</a:t>
            </a:r>
            <a:endParaRPr lang="en-US" sz="2600" dirty="0"/>
          </a:p>
        </p:txBody>
      </p:sp>
      <p:sp>
        <p:nvSpPr>
          <p:cNvPr id="10" name="Text 8"/>
          <p:cNvSpPr txBox="1"/>
          <p:nvPr/>
        </p:nvSpPr>
        <p:spPr>
          <a:xfrm>
            <a:off x="868680" y="3950208"/>
            <a:ext cx="3474720" cy="457200"/>
          </a:xfrm>
          <a:prstGeom prst="rect">
            <a:avLst/>
          </a:prstGeom>
          <a:noFill/>
          <a:ln/>
        </p:spPr>
        <p:txBody>
          <a:bodyPr wrap="square" lIns="0" tIns="0" rIns="0" bIns="0" rtlCol="0" anchor="ctr"/>
          <a:lstStyle/>
          <a:p>
            <a:pPr marL="0" indent="0" algn="ctr">
              <a:buNone/>
            </a:pPr>
            <a:r>
              <a:rPr lang="en-US" sz="1250" dirty="0">
                <a:solidFill>
                  <a:srgbClr val="8FA6BC"/>
                </a:solidFill>
                <a:latin typeface="Calibri" pitchFamily="34" charset="0"/>
                <a:ea typeface="Calibri" pitchFamily="34" charset="-122"/>
                <a:cs typeface="Calibri" pitchFamily="34" charset="-120"/>
              </a:rPr>
              <a:t>critical suppliers delayed or unresponsive</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892040" y="1691640"/>
          <a:ext cx="6656832" cy="2852928"/>
        </p:xfrm>
        <a:graphic>
          <a:graphicData uri="http://schemas.openxmlformats.org/drawingml/2006/table">
            <a:tbl>
              <a:tblPr/>
              <a:tblGrid>
                <a:gridCol w="3291840">
                  <a:extLst>
                    <a:ext uri="{9D8B030D-6E8A-4147-A177-3AD203B41FA5}">
                      <a16:colId xmlns:a16="http://schemas.microsoft.com/office/drawing/2014/main" val="20000"/>
                    </a:ext>
                  </a:extLst>
                </a:gridCol>
                <a:gridCol w="2084832">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475488">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Status</a:t>
                      </a:r>
                      <a:endParaRPr lang="en-US" sz="13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0E2138"/>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Critical suppliers</a:t>
                      </a:r>
                      <a:endParaRPr lang="en-US" sz="13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0E2138"/>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Share</a:t>
                      </a:r>
                      <a:endParaRPr lang="en-US" sz="13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0E2138"/>
                    </a:solidFill>
                  </a:tcPr>
                </a:tc>
                <a:extLst>
                  <a:ext uri="{0D108BD9-81ED-4DB2-BD59-A6C34878D82A}">
                    <a16:rowId xmlns:a16="http://schemas.microsoft.com/office/drawing/2014/main" val="10000"/>
                  </a:ext>
                </a:extLst>
              </a:tr>
              <a:tr h="475488">
                <a:tc>
                  <a:txBody>
                    <a:bodyPr/>
                    <a:lstStyle/>
                    <a:p>
                      <a:pPr marL="0" indent="0" algn="l">
                        <a:buNone/>
                      </a:pPr>
                      <a:r>
                        <a:rPr lang="en-US" sz="1300" b="1" dirty="0">
                          <a:solidFill>
                            <a:srgbClr val="1A2433"/>
                          </a:solidFill>
                          <a:latin typeface="Calibri" pitchFamily="34" charset="0"/>
                          <a:ea typeface="Calibri" pitchFamily="34" charset="-122"/>
                          <a:cs typeface="Calibri" pitchFamily="34" charset="-120"/>
                        </a:rPr>
                        <a:t>Complete</a:t>
                      </a:r>
                      <a:endParaRPr lang="en-US" sz="13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tc>
                  <a:txBody>
                    <a:bodyPr/>
                    <a:lstStyle/>
                    <a:p>
                      <a:pPr marL="0" indent="0" algn="ctr">
                        <a:buNone/>
                      </a:pPr>
                      <a:r>
                        <a:rPr lang="en-US" sz="1300" dirty="0">
                          <a:solidFill>
                            <a:srgbClr val="1A2433"/>
                          </a:solidFill>
                          <a:latin typeface="Calibri" pitchFamily="34" charset="0"/>
                          <a:ea typeface="Calibri" pitchFamily="34" charset="-122"/>
                          <a:cs typeface="Calibri" pitchFamily="34" charset="-120"/>
                        </a:rPr>
                        <a:t>64</a:t>
                      </a:r>
                      <a:endParaRPr lang="en-US" sz="13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tc>
                  <a:txBody>
                    <a:bodyPr/>
                    <a:lstStyle/>
                    <a:p>
                      <a:pPr marL="0" indent="0" algn="ctr">
                        <a:buNone/>
                      </a:pPr>
                      <a:r>
                        <a:rPr lang="en-US" sz="1300" dirty="0">
                          <a:solidFill>
                            <a:srgbClr val="1A2433"/>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extLst>
                  <a:ext uri="{0D108BD9-81ED-4DB2-BD59-A6C34878D82A}">
                    <a16:rowId xmlns:a16="http://schemas.microsoft.com/office/drawing/2014/main" val="10001"/>
                  </a:ext>
                </a:extLst>
              </a:tr>
              <a:tr h="475488">
                <a:tc>
                  <a:txBody>
                    <a:bodyPr/>
                    <a:lstStyle/>
                    <a:p>
                      <a:pPr marL="0" indent="0" algn="l">
                        <a:buNone/>
                      </a:pPr>
                      <a:r>
                        <a:rPr lang="en-US" sz="1300" b="1" dirty="0">
                          <a:solidFill>
                            <a:srgbClr val="1A2433"/>
                          </a:solidFill>
                          <a:latin typeface="Calibri" pitchFamily="34" charset="0"/>
                          <a:ea typeface="Calibri" pitchFamily="34" charset="-122"/>
                          <a:cs typeface="Calibri" pitchFamily="34" charset="-120"/>
                        </a:rPr>
                        <a:t>Received</a:t>
                      </a:r>
                      <a:endParaRPr lang="en-US" sz="13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433"/>
                          </a:solidFill>
                          <a:latin typeface="Calibri" pitchFamily="34" charset="0"/>
                          <a:ea typeface="Calibri" pitchFamily="34" charset="-122"/>
                          <a:cs typeface="Calibri" pitchFamily="34" charset="-120"/>
                        </a:rPr>
                        <a:t>33</a:t>
                      </a:r>
                      <a:endParaRPr lang="en-US" sz="13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433"/>
                          </a:solidFill>
                          <a:latin typeface="Calibri" pitchFamily="34" charset="0"/>
                          <a:ea typeface="Calibri" pitchFamily="34" charset="-122"/>
                          <a:cs typeface="Calibri" pitchFamily="34" charset="-120"/>
                        </a:rPr>
                        <a:t>26%</a:t>
                      </a:r>
                      <a:endParaRPr lang="en-US" sz="13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lgn="l">
                        <a:buNone/>
                      </a:pPr>
                      <a:r>
                        <a:rPr lang="en-US" sz="1300" b="1" dirty="0">
                          <a:solidFill>
                            <a:srgbClr val="1A2433"/>
                          </a:solidFill>
                          <a:latin typeface="Calibri" pitchFamily="34" charset="0"/>
                          <a:ea typeface="Calibri" pitchFamily="34" charset="-122"/>
                          <a:cs typeface="Calibri" pitchFamily="34" charset="-120"/>
                        </a:rPr>
                        <a:t>Delayed</a:t>
                      </a:r>
                      <a:endParaRPr lang="en-US" sz="13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tc>
                  <a:txBody>
                    <a:bodyPr/>
                    <a:lstStyle/>
                    <a:p>
                      <a:pPr marL="0" indent="0" algn="ctr">
                        <a:buNone/>
                      </a:pPr>
                      <a:r>
                        <a:rPr lang="en-US" sz="1300" dirty="0">
                          <a:solidFill>
                            <a:srgbClr val="1A2433"/>
                          </a:solidFill>
                          <a:latin typeface="Calibri" pitchFamily="34" charset="0"/>
                          <a:ea typeface="Calibri" pitchFamily="34" charset="-122"/>
                          <a:cs typeface="Calibri" pitchFamily="34" charset="-120"/>
                        </a:rPr>
                        <a:t>26</a:t>
                      </a:r>
                      <a:endParaRPr lang="en-US" sz="13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tc>
                  <a:txBody>
                    <a:bodyPr/>
                    <a:lstStyle/>
                    <a:p>
                      <a:pPr marL="0" indent="0" algn="ctr">
                        <a:buNone/>
                      </a:pPr>
                      <a:r>
                        <a:rPr lang="en-US" sz="1300" dirty="0">
                          <a:solidFill>
                            <a:srgbClr val="1A2433"/>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extLst>
                  <a:ext uri="{0D108BD9-81ED-4DB2-BD59-A6C34878D82A}">
                    <a16:rowId xmlns:a16="http://schemas.microsoft.com/office/drawing/2014/main" val="10003"/>
                  </a:ext>
                </a:extLst>
              </a:tr>
              <a:tr h="475488">
                <a:tc>
                  <a:txBody>
                    <a:bodyPr/>
                    <a:lstStyle/>
                    <a:p>
                      <a:pPr marL="0" indent="0" algn="l">
                        <a:buNone/>
                      </a:pPr>
                      <a:r>
                        <a:rPr lang="en-US" sz="1300" b="1" dirty="0">
                          <a:solidFill>
                            <a:srgbClr val="1A2433"/>
                          </a:solidFill>
                          <a:latin typeface="Calibri" pitchFamily="34" charset="0"/>
                          <a:ea typeface="Calibri" pitchFamily="34" charset="-122"/>
                          <a:cs typeface="Calibri" pitchFamily="34" charset="-120"/>
                        </a:rPr>
                        <a:t>Delayed (EOD)</a:t>
                      </a:r>
                      <a:endParaRPr lang="en-US" sz="13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433"/>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A2433"/>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lgn="l">
                        <a:buNone/>
                      </a:pPr>
                      <a:r>
                        <a:rPr lang="en-US" sz="1300" b="1" dirty="0">
                          <a:solidFill>
                            <a:srgbClr val="1A2433"/>
                          </a:solidFill>
                          <a:latin typeface="Calibri" pitchFamily="34" charset="0"/>
                          <a:ea typeface="Calibri" pitchFamily="34" charset="-122"/>
                          <a:cs typeface="Calibri" pitchFamily="34" charset="-120"/>
                        </a:rPr>
                        <a:t>Poor Communication</a:t>
                      </a:r>
                      <a:endParaRPr lang="en-US" sz="13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tc>
                  <a:txBody>
                    <a:bodyPr/>
                    <a:lstStyle/>
                    <a:p>
                      <a:pPr marL="0" indent="0" algn="ctr">
                        <a:buNone/>
                      </a:pPr>
                      <a:r>
                        <a:rPr lang="en-US" sz="1300" dirty="0">
                          <a:solidFill>
                            <a:srgbClr val="1A2433"/>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tc>
                  <a:txBody>
                    <a:bodyPr/>
                    <a:lstStyle/>
                    <a:p>
                      <a:pPr marL="0" indent="0" algn="ctr">
                        <a:buNone/>
                      </a:pPr>
                      <a:r>
                        <a:rPr lang="en-US" sz="1300" dirty="0">
                          <a:solidFill>
                            <a:srgbClr val="1A2433"/>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extLst>
                  <a:ext uri="{0D108BD9-81ED-4DB2-BD59-A6C34878D82A}">
                    <a16:rowId xmlns:a16="http://schemas.microsoft.com/office/drawing/2014/main" val="10005"/>
                  </a:ext>
                </a:extLst>
              </a:tr>
            </a:tbl>
          </a:graphicData>
        </a:graphic>
      </p:graphicFrame>
      <p:sp>
        <p:nvSpPr>
          <p:cNvPr id="12" name="Shape 9"/>
          <p:cNvSpPr/>
          <p:nvPr/>
        </p:nvSpPr>
        <p:spPr>
          <a:xfrm>
            <a:off x="640080" y="5029200"/>
            <a:ext cx="10908792" cy="1325880"/>
          </a:xfrm>
          <a:prstGeom prst="roundRect">
            <a:avLst>
              <a:gd name="adj" fmla="val 5517"/>
            </a:avLst>
          </a:prstGeom>
          <a:solidFill>
            <a:srgbClr val="EAF7F1"/>
          </a:solidFill>
          <a:ln w="12700">
            <a:solidFill>
              <a:srgbClr val="CDEBDD"/>
            </a:solidFill>
            <a:prstDash val="solid"/>
          </a:ln>
        </p:spPr>
        <p:txBody>
          <a:bodyPr/>
          <a:lstStyle/>
          <a:p>
            <a:endParaRPr lang="en-US"/>
          </a:p>
        </p:txBody>
      </p:sp>
      <p:sp>
        <p:nvSpPr>
          <p:cNvPr id="13" name="Text 10"/>
          <p:cNvSpPr txBox="1"/>
          <p:nvPr/>
        </p:nvSpPr>
        <p:spPr>
          <a:xfrm>
            <a:off x="914400" y="5175504"/>
            <a:ext cx="2743200" cy="274320"/>
          </a:xfrm>
          <a:prstGeom prst="rect">
            <a:avLst/>
          </a:prstGeom>
          <a:noFill/>
          <a:ln/>
        </p:spPr>
        <p:txBody>
          <a:bodyPr wrap="square" lIns="0" tIns="0" rIns="0" bIns="0" rtlCol="0" anchor="ctr"/>
          <a:lstStyle/>
          <a:p>
            <a:pPr marL="0" indent="0">
              <a:buNone/>
            </a:pPr>
            <a:r>
              <a:rPr lang="en-US" sz="1200" b="1" kern="0" spc="200" dirty="0">
                <a:solidFill>
                  <a:srgbClr val="0E8F63"/>
                </a:solidFill>
                <a:latin typeface="Calibri" pitchFamily="34" charset="0"/>
                <a:ea typeface="Calibri" pitchFamily="34" charset="-122"/>
                <a:cs typeface="Calibri" pitchFamily="34" charset="-120"/>
              </a:rPr>
              <a:t>TAKEAWAY</a:t>
            </a:r>
            <a:endParaRPr lang="en-US" sz="1200" dirty="0"/>
          </a:p>
        </p:txBody>
      </p:sp>
      <p:sp>
        <p:nvSpPr>
          <p:cNvPr id="14" name="Text 11"/>
          <p:cNvSpPr txBox="1"/>
          <p:nvPr/>
        </p:nvSpPr>
        <p:spPr>
          <a:xfrm>
            <a:off x="914400" y="5449824"/>
            <a:ext cx="10378440" cy="822960"/>
          </a:xfrm>
          <a:prstGeom prst="rect">
            <a:avLst/>
          </a:prstGeom>
          <a:noFill/>
          <a:ln/>
        </p:spPr>
        <p:txBody>
          <a:bodyPr wrap="square" lIns="0" tIns="0" rIns="0" bIns="0" rtlCol="0" anchor="ctr"/>
          <a:lstStyle/>
          <a:p>
            <a:pPr marL="0" indent="0">
              <a:lnSpc>
                <a:spcPct val="104000"/>
              </a:lnSpc>
              <a:buNone/>
            </a:pPr>
            <a:r>
              <a:rPr lang="en-US" sz="1450" dirty="0">
                <a:solidFill>
                  <a:srgbClr val="1A2433"/>
                </a:solidFill>
                <a:latin typeface="Calibri" pitchFamily="34" charset="0"/>
                <a:ea typeface="Calibri" pitchFamily="34" charset="-122"/>
                <a:cs typeface="Calibri" pitchFamily="34" charset="-120"/>
              </a:rPr>
              <a:t>Half of critical suppliers are secured, but 32 (25%) are delayed or unresponsive across the exact categories an arena cannot open without. Completion percentage alone is a comfort metric: a delayed napkin vendor and a delayed fire-safety vendor are not the same risk.</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12B67E"/>
          </a:solidFill>
          <a:ln/>
        </p:spPr>
        <p:txBody>
          <a:bodyPr/>
          <a:lstStyle/>
          <a:p>
            <a:endParaRPr lang="en-US"/>
          </a:p>
        </p:txBody>
      </p:sp>
      <p:sp>
        <p:nvSpPr>
          <p:cNvPr id="3" name="Text 1"/>
          <p:cNvSpPr txBox="1"/>
          <p:nvPr/>
        </p:nvSpPr>
        <p:spPr>
          <a:xfrm>
            <a:off x="640080" y="457200"/>
            <a:ext cx="566928" cy="566928"/>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04</a:t>
            </a:r>
            <a:endParaRPr lang="en-US" sz="1700" dirty="0"/>
          </a:p>
        </p:txBody>
      </p:sp>
      <p:sp>
        <p:nvSpPr>
          <p:cNvPr id="4" name="Text 2"/>
          <p:cNvSpPr txBox="1"/>
          <p:nvPr/>
        </p:nvSpPr>
        <p:spPr>
          <a:xfrm>
            <a:off x="1371600" y="457200"/>
            <a:ext cx="10149840" cy="274320"/>
          </a:xfrm>
          <a:prstGeom prst="rect">
            <a:avLst/>
          </a:prstGeom>
          <a:noFill/>
          <a:ln/>
        </p:spPr>
        <p:txBody>
          <a:bodyPr wrap="square" lIns="0" tIns="0" rIns="0" bIns="0" rtlCol="0" anchor="ctr"/>
          <a:lstStyle/>
          <a:p>
            <a:pPr marL="0" indent="0">
              <a:buNone/>
            </a:pPr>
            <a:r>
              <a:rPr lang="en-US" sz="1200" b="1" kern="0" spc="200" dirty="0">
                <a:solidFill>
                  <a:srgbClr val="0E8F63"/>
                </a:solidFill>
                <a:latin typeface="Calibri" pitchFamily="34" charset="0"/>
                <a:ea typeface="Calibri" pitchFamily="34" charset="-122"/>
                <a:cs typeface="Calibri" pitchFamily="34" charset="-120"/>
              </a:rPr>
              <a:t>THE ESCALATION LIST</a:t>
            </a:r>
            <a:endParaRPr lang="en-US" sz="1200" dirty="0"/>
          </a:p>
        </p:txBody>
      </p:sp>
      <p:sp>
        <p:nvSpPr>
          <p:cNvPr id="5" name="Text 3"/>
          <p:cNvSpPr txBox="1"/>
          <p:nvPr/>
        </p:nvSpPr>
        <p:spPr>
          <a:xfrm>
            <a:off x="1371600" y="713232"/>
            <a:ext cx="10241280" cy="548640"/>
          </a:xfrm>
          <a:prstGeom prst="rect">
            <a:avLst/>
          </a:prstGeom>
          <a:noFill/>
          <a:ln/>
        </p:spPr>
        <p:txBody>
          <a:bodyPr wrap="square" lIns="0" tIns="0" rIns="0" bIns="0" rtlCol="0" anchor="ctr"/>
          <a:lstStyle/>
          <a:p>
            <a:pPr marL="0" indent="0">
              <a:buNone/>
            </a:pPr>
            <a:r>
              <a:rPr lang="en-US" sz="2600" b="1" dirty="0">
                <a:solidFill>
                  <a:srgbClr val="1A2433"/>
                </a:solidFill>
                <a:latin typeface="Calibri" pitchFamily="34" charset="0"/>
                <a:ea typeface="Calibri" pitchFamily="34" charset="-122"/>
                <a:cs typeface="Calibri" pitchFamily="34" charset="-120"/>
              </a:rPr>
              <a:t>Top critical suppliers at risk, highest-spend essential services not yet secured</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10908792" cy="4224528"/>
        </p:xfrm>
        <a:graphic>
          <a:graphicData uri="http://schemas.openxmlformats.org/drawingml/2006/table">
            <a:tbl>
              <a:tblPr/>
              <a:tblGrid>
                <a:gridCol w="420624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1856232">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384048">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Supplier</a:t>
                      </a:r>
                      <a:endParaRPr lang="en-US" sz="12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0E2138"/>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Coordinator</a:t>
                      </a:r>
                      <a:endParaRPr lang="en-US" sz="12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0E2138"/>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Status</a:t>
                      </a:r>
                      <a:endParaRPr lang="en-US" sz="12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0E2138"/>
                    </a:solidFill>
                  </a:tcPr>
                </a:tc>
                <a:tc>
                  <a:txBody>
                    <a:bodyPr/>
                    <a:lstStyle/>
                    <a:p>
                      <a:pPr marL="0" indent="0" algn="r">
                        <a:buNone/>
                      </a:pPr>
                      <a:r>
                        <a:rPr lang="en-US" sz="1250" b="1" dirty="0">
                          <a:solidFill>
                            <a:srgbClr val="FFFFFF"/>
                          </a:solidFill>
                          <a:latin typeface="Calibri" pitchFamily="34" charset="0"/>
                          <a:ea typeface="Calibri" pitchFamily="34" charset="-122"/>
                          <a:cs typeface="Calibri" pitchFamily="34" charset="-120"/>
                        </a:rPr>
                        <a:t>Annual $</a:t>
                      </a:r>
                      <a:endParaRPr lang="en-US" sz="12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0E2138"/>
                    </a:solidFill>
                  </a:tcPr>
                </a:tc>
                <a:extLst>
                  <a:ext uri="{0D108BD9-81ED-4DB2-BD59-A6C34878D82A}">
                    <a16:rowId xmlns:a16="http://schemas.microsoft.com/office/drawing/2014/main" val="10000"/>
                  </a:ext>
                </a:extLst>
              </a:tr>
              <a:tr h="384048">
                <a:tc>
                  <a:txBody>
                    <a:bodyPr/>
                    <a:lstStyle/>
                    <a:p>
                      <a:pPr marL="0" indent="0" algn="l">
                        <a:buNone/>
                      </a:pPr>
                      <a:r>
                        <a:rPr lang="en-US" sz="1150" b="1" dirty="0">
                          <a:solidFill>
                            <a:srgbClr val="1A2433"/>
                          </a:solidFill>
                          <a:latin typeface="Calibri" pitchFamily="34" charset="0"/>
                          <a:ea typeface="Calibri" pitchFamily="34" charset="-122"/>
                          <a:cs typeface="Calibri" pitchFamily="34" charset="-120"/>
                        </a:rPr>
                        <a:t>Monarch Mechanical Partners</a:t>
                      </a:r>
                      <a:endParaRPr lang="en-US" sz="11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tc>
                  <a:txBody>
                    <a:bodyPr/>
                    <a:lstStyle/>
                    <a:p>
                      <a:pPr marL="0" indent="0" algn="l">
                        <a:buNone/>
                      </a:pPr>
                      <a:r>
                        <a:rPr lang="en-US" sz="1150" dirty="0">
                          <a:solidFill>
                            <a:srgbClr val="1A2433"/>
                          </a:solidFill>
                          <a:latin typeface="Calibri" pitchFamily="34" charset="0"/>
                          <a:ea typeface="Calibri" pitchFamily="34" charset="-122"/>
                          <a:cs typeface="Calibri" pitchFamily="34" charset="-120"/>
                        </a:rPr>
                        <a:t>Marisol Reyes</a:t>
                      </a:r>
                      <a:endParaRPr lang="en-US" sz="11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tc>
                  <a:txBody>
                    <a:bodyPr/>
                    <a:lstStyle/>
                    <a:p>
                      <a:pPr marL="0" indent="0" algn="ctr">
                        <a:buNone/>
                      </a:pPr>
                      <a:r>
                        <a:rPr lang="en-US" sz="1150" b="1" dirty="0">
                          <a:solidFill>
                            <a:srgbClr val="E0A83B"/>
                          </a:solidFill>
                          <a:latin typeface="Calibri" pitchFamily="34" charset="0"/>
                          <a:ea typeface="Calibri" pitchFamily="34" charset="-122"/>
                          <a:cs typeface="Calibri" pitchFamily="34" charset="-120"/>
                        </a:rPr>
                        <a:t>Delayed</a:t>
                      </a:r>
                      <a:endParaRPr lang="en-US" sz="11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tc>
                  <a:txBody>
                    <a:bodyPr/>
                    <a:lstStyle/>
                    <a:p>
                      <a:pPr marL="0" indent="0" algn="r">
                        <a:buNone/>
                      </a:pPr>
                      <a:r>
                        <a:rPr lang="en-US" sz="1150" dirty="0">
                          <a:solidFill>
                            <a:srgbClr val="1A2433"/>
                          </a:solidFill>
                          <a:latin typeface="Calibri" pitchFamily="34" charset="0"/>
                          <a:ea typeface="Calibri" pitchFamily="34" charset="-122"/>
                          <a:cs typeface="Calibri" pitchFamily="34" charset="-120"/>
                        </a:rPr>
                        <a:t>$434,200</a:t>
                      </a:r>
                      <a:endParaRPr lang="en-US" sz="11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extLst>
                  <a:ext uri="{0D108BD9-81ED-4DB2-BD59-A6C34878D82A}">
                    <a16:rowId xmlns:a16="http://schemas.microsoft.com/office/drawing/2014/main" val="10001"/>
                  </a:ext>
                </a:extLst>
              </a:tr>
              <a:tr h="384048">
                <a:tc>
                  <a:txBody>
                    <a:bodyPr/>
                    <a:lstStyle/>
                    <a:p>
                      <a:pPr marL="0" indent="0" algn="l">
                        <a:buNone/>
                      </a:pPr>
                      <a:r>
                        <a:rPr lang="en-US" sz="1150" b="1" dirty="0">
                          <a:solidFill>
                            <a:srgbClr val="1A2433"/>
                          </a:solidFill>
                          <a:latin typeface="Calibri" pitchFamily="34" charset="0"/>
                          <a:ea typeface="Calibri" pitchFamily="34" charset="-122"/>
                          <a:cs typeface="Calibri" pitchFamily="34" charset="-120"/>
                        </a:rPr>
                        <a:t>Precision Electrical Co.</a:t>
                      </a:r>
                      <a:endParaRPr lang="en-US" sz="11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2433"/>
                          </a:solidFill>
                          <a:latin typeface="Calibri" pitchFamily="34" charset="0"/>
                          <a:ea typeface="Calibri" pitchFamily="34" charset="-122"/>
                          <a:cs typeface="Calibri" pitchFamily="34" charset="-120"/>
                        </a:rPr>
                        <a:t>Trevor Nguyen</a:t>
                      </a:r>
                      <a:endParaRPr lang="en-US" sz="11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0A83B"/>
                          </a:solidFill>
                          <a:latin typeface="Calibri" pitchFamily="34" charset="0"/>
                          <a:ea typeface="Calibri" pitchFamily="34" charset="-122"/>
                          <a:cs typeface="Calibri" pitchFamily="34" charset="-120"/>
                        </a:rPr>
                        <a:t>Delayed</a:t>
                      </a:r>
                      <a:endParaRPr lang="en-US" sz="11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2433"/>
                          </a:solidFill>
                          <a:latin typeface="Calibri" pitchFamily="34" charset="0"/>
                          <a:ea typeface="Calibri" pitchFamily="34" charset="-122"/>
                          <a:cs typeface="Calibri" pitchFamily="34" charset="-120"/>
                        </a:rPr>
                        <a:t>$408,600</a:t>
                      </a:r>
                      <a:endParaRPr lang="en-US" sz="11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1150" b="1" dirty="0">
                          <a:solidFill>
                            <a:srgbClr val="1A2433"/>
                          </a:solidFill>
                          <a:latin typeface="Calibri" pitchFamily="34" charset="0"/>
                          <a:ea typeface="Calibri" pitchFamily="34" charset="-122"/>
                          <a:cs typeface="Calibri" pitchFamily="34" charset="-120"/>
                        </a:rPr>
                        <a:t>Allied Guard Services Inc.</a:t>
                      </a:r>
                      <a:endParaRPr lang="en-US" sz="11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tc>
                  <a:txBody>
                    <a:bodyPr/>
                    <a:lstStyle/>
                    <a:p>
                      <a:pPr marL="0" indent="0" algn="l">
                        <a:buNone/>
                      </a:pPr>
                      <a:r>
                        <a:rPr lang="en-US" sz="1150" dirty="0">
                          <a:solidFill>
                            <a:srgbClr val="1A2433"/>
                          </a:solidFill>
                          <a:latin typeface="Calibri" pitchFamily="34" charset="0"/>
                          <a:ea typeface="Calibri" pitchFamily="34" charset="-122"/>
                          <a:cs typeface="Calibri" pitchFamily="34" charset="-120"/>
                        </a:rPr>
                        <a:t>Damon Fields</a:t>
                      </a:r>
                      <a:endParaRPr lang="en-US" sz="11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tc>
                  <a:txBody>
                    <a:bodyPr/>
                    <a:lstStyle/>
                    <a:p>
                      <a:pPr marL="0" indent="0" algn="ctr">
                        <a:buNone/>
                      </a:pPr>
                      <a:r>
                        <a:rPr lang="en-US" sz="1150" b="1" dirty="0">
                          <a:solidFill>
                            <a:srgbClr val="B4472F"/>
                          </a:solidFill>
                          <a:latin typeface="Calibri" pitchFamily="34" charset="0"/>
                          <a:ea typeface="Calibri" pitchFamily="34" charset="-122"/>
                          <a:cs typeface="Calibri" pitchFamily="34" charset="-120"/>
                        </a:rPr>
                        <a:t>Delayed (EOD)</a:t>
                      </a:r>
                      <a:endParaRPr lang="en-US" sz="11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tc>
                  <a:txBody>
                    <a:bodyPr/>
                    <a:lstStyle/>
                    <a:p>
                      <a:pPr marL="0" indent="0" algn="r">
                        <a:buNone/>
                      </a:pPr>
                      <a:r>
                        <a:rPr lang="en-US" sz="1150" dirty="0">
                          <a:solidFill>
                            <a:srgbClr val="1A2433"/>
                          </a:solidFill>
                          <a:latin typeface="Calibri" pitchFamily="34" charset="0"/>
                          <a:ea typeface="Calibri" pitchFamily="34" charset="-122"/>
                          <a:cs typeface="Calibri" pitchFamily="34" charset="-120"/>
                        </a:rPr>
                        <a:t>$313,400</a:t>
                      </a:r>
                      <a:endParaRPr lang="en-US" sz="11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extLst>
                  <a:ext uri="{0D108BD9-81ED-4DB2-BD59-A6C34878D82A}">
                    <a16:rowId xmlns:a16="http://schemas.microsoft.com/office/drawing/2014/main" val="10003"/>
                  </a:ext>
                </a:extLst>
              </a:tr>
              <a:tr h="384048">
                <a:tc>
                  <a:txBody>
                    <a:bodyPr/>
                    <a:lstStyle/>
                    <a:p>
                      <a:pPr marL="0" indent="0" algn="l">
                        <a:buNone/>
                      </a:pPr>
                      <a:r>
                        <a:rPr lang="en-US" sz="1150" b="1" dirty="0">
                          <a:solidFill>
                            <a:srgbClr val="1A2433"/>
                          </a:solidFill>
                          <a:latin typeface="Calibri" pitchFamily="34" charset="0"/>
                          <a:ea typeface="Calibri" pitchFamily="34" charset="-122"/>
                          <a:cs typeface="Calibri" pitchFamily="34" charset="-120"/>
                        </a:rPr>
                        <a:t>SoCal Fire Protection Services</a:t>
                      </a:r>
                      <a:endParaRPr lang="en-US" sz="11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2433"/>
                          </a:solidFill>
                          <a:latin typeface="Calibri" pitchFamily="34" charset="0"/>
                          <a:ea typeface="Calibri" pitchFamily="34" charset="-122"/>
                          <a:cs typeface="Calibri" pitchFamily="34" charset="-120"/>
                        </a:rPr>
                        <a:t>Andre Boseman</a:t>
                      </a:r>
                      <a:endParaRPr lang="en-US" sz="11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0A83B"/>
                          </a:solidFill>
                          <a:latin typeface="Calibri" pitchFamily="34" charset="0"/>
                          <a:ea typeface="Calibri" pitchFamily="34" charset="-122"/>
                          <a:cs typeface="Calibri" pitchFamily="34" charset="-120"/>
                        </a:rPr>
                        <a:t>Delayed</a:t>
                      </a:r>
                      <a:endParaRPr lang="en-US" sz="11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2433"/>
                          </a:solidFill>
                          <a:latin typeface="Calibri" pitchFamily="34" charset="0"/>
                          <a:ea typeface="Calibri" pitchFamily="34" charset="-122"/>
                          <a:cs typeface="Calibri" pitchFamily="34" charset="-120"/>
                        </a:rPr>
                        <a:t>$286,000</a:t>
                      </a:r>
                      <a:endParaRPr lang="en-US" sz="11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lgn="l">
                        <a:buNone/>
                      </a:pPr>
                      <a:r>
                        <a:rPr lang="en-US" sz="1150" b="1" dirty="0">
                          <a:solidFill>
                            <a:srgbClr val="1A2433"/>
                          </a:solidFill>
                          <a:latin typeface="Calibri" pitchFamily="34" charset="0"/>
                          <a:ea typeface="Calibri" pitchFamily="34" charset="-122"/>
                          <a:cs typeface="Calibri" pitchFamily="34" charset="-120"/>
                        </a:rPr>
                        <a:t>Coastal Climate Control</a:t>
                      </a:r>
                      <a:endParaRPr lang="en-US" sz="11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tc>
                  <a:txBody>
                    <a:bodyPr/>
                    <a:lstStyle/>
                    <a:p>
                      <a:pPr marL="0" indent="0" algn="l">
                        <a:buNone/>
                      </a:pPr>
                      <a:r>
                        <a:rPr lang="en-US" sz="1150" dirty="0">
                          <a:solidFill>
                            <a:srgbClr val="1A2433"/>
                          </a:solidFill>
                          <a:latin typeface="Calibri" pitchFamily="34" charset="0"/>
                          <a:ea typeface="Calibri" pitchFamily="34" charset="-122"/>
                          <a:cs typeface="Calibri" pitchFamily="34" charset="-120"/>
                        </a:rPr>
                        <a:t>Marisol Reyes</a:t>
                      </a:r>
                      <a:endParaRPr lang="en-US" sz="11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tc>
                  <a:txBody>
                    <a:bodyPr/>
                    <a:lstStyle/>
                    <a:p>
                      <a:pPr marL="0" indent="0" algn="ctr">
                        <a:buNone/>
                      </a:pPr>
                      <a:r>
                        <a:rPr lang="en-US" sz="1150" b="1" dirty="0">
                          <a:solidFill>
                            <a:srgbClr val="E0A83B"/>
                          </a:solidFill>
                          <a:latin typeface="Calibri" pitchFamily="34" charset="0"/>
                          <a:ea typeface="Calibri" pitchFamily="34" charset="-122"/>
                          <a:cs typeface="Calibri" pitchFamily="34" charset="-120"/>
                        </a:rPr>
                        <a:t>Delayed</a:t>
                      </a:r>
                      <a:endParaRPr lang="en-US" sz="11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tc>
                  <a:txBody>
                    <a:bodyPr/>
                    <a:lstStyle/>
                    <a:p>
                      <a:pPr marL="0" indent="0" algn="r">
                        <a:buNone/>
                      </a:pPr>
                      <a:r>
                        <a:rPr lang="en-US" sz="1150" dirty="0">
                          <a:solidFill>
                            <a:srgbClr val="1A2433"/>
                          </a:solidFill>
                          <a:latin typeface="Calibri" pitchFamily="34" charset="0"/>
                          <a:ea typeface="Calibri" pitchFamily="34" charset="-122"/>
                          <a:cs typeface="Calibri" pitchFamily="34" charset="-120"/>
                        </a:rPr>
                        <a:t>$283,800</a:t>
                      </a:r>
                      <a:endParaRPr lang="en-US" sz="11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extLst>
                  <a:ext uri="{0D108BD9-81ED-4DB2-BD59-A6C34878D82A}">
                    <a16:rowId xmlns:a16="http://schemas.microsoft.com/office/drawing/2014/main" val="10005"/>
                  </a:ext>
                </a:extLst>
              </a:tr>
              <a:tr h="384048">
                <a:tc>
                  <a:txBody>
                    <a:bodyPr/>
                    <a:lstStyle/>
                    <a:p>
                      <a:pPr marL="0" indent="0" algn="l">
                        <a:buNone/>
                      </a:pPr>
                      <a:r>
                        <a:rPr lang="en-US" sz="1150" b="1" dirty="0">
                          <a:solidFill>
                            <a:srgbClr val="1A2433"/>
                          </a:solidFill>
                          <a:latin typeface="Calibri" pitchFamily="34" charset="0"/>
                          <a:ea typeface="Calibri" pitchFamily="34" charset="-122"/>
                          <a:cs typeface="Calibri" pitchFamily="34" charset="-120"/>
                        </a:rPr>
                        <a:t>Guardian Fire Protection Solutions</a:t>
                      </a:r>
                      <a:endParaRPr lang="en-US" sz="11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2433"/>
                          </a:solidFill>
                          <a:latin typeface="Calibri" pitchFamily="34" charset="0"/>
                          <a:ea typeface="Calibri" pitchFamily="34" charset="-122"/>
                          <a:cs typeface="Calibri" pitchFamily="34" charset="-120"/>
                        </a:rPr>
                        <a:t>Marisol Reyes</a:t>
                      </a:r>
                      <a:endParaRPr lang="en-US" sz="11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0A83B"/>
                          </a:solidFill>
                          <a:latin typeface="Calibri" pitchFamily="34" charset="0"/>
                          <a:ea typeface="Calibri" pitchFamily="34" charset="-122"/>
                          <a:cs typeface="Calibri" pitchFamily="34" charset="-120"/>
                        </a:rPr>
                        <a:t>Delayed</a:t>
                      </a:r>
                      <a:endParaRPr lang="en-US" sz="11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2433"/>
                          </a:solidFill>
                          <a:latin typeface="Calibri" pitchFamily="34" charset="0"/>
                          <a:ea typeface="Calibri" pitchFamily="34" charset="-122"/>
                          <a:cs typeface="Calibri" pitchFamily="34" charset="-120"/>
                        </a:rPr>
                        <a:t>$279,000</a:t>
                      </a:r>
                      <a:endParaRPr lang="en-US" sz="11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84048">
                <a:tc>
                  <a:txBody>
                    <a:bodyPr/>
                    <a:lstStyle/>
                    <a:p>
                      <a:pPr marL="0" indent="0" algn="l">
                        <a:buNone/>
                      </a:pPr>
                      <a:r>
                        <a:rPr lang="en-US" sz="1150" b="1" dirty="0">
                          <a:solidFill>
                            <a:srgbClr val="1A2433"/>
                          </a:solidFill>
                          <a:latin typeface="Calibri" pitchFamily="34" charset="0"/>
                          <a:ea typeface="Calibri" pitchFamily="34" charset="-122"/>
                          <a:cs typeface="Calibri" pitchFamily="34" charset="-120"/>
                        </a:rPr>
                        <a:t>Union Security Contractors</a:t>
                      </a:r>
                      <a:endParaRPr lang="en-US" sz="11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tc>
                  <a:txBody>
                    <a:bodyPr/>
                    <a:lstStyle/>
                    <a:p>
                      <a:pPr marL="0" indent="0" algn="l">
                        <a:buNone/>
                      </a:pPr>
                      <a:r>
                        <a:rPr lang="en-US" sz="1150" dirty="0">
                          <a:solidFill>
                            <a:srgbClr val="1A2433"/>
                          </a:solidFill>
                          <a:latin typeface="Calibri" pitchFamily="34" charset="0"/>
                          <a:ea typeface="Calibri" pitchFamily="34" charset="-122"/>
                          <a:cs typeface="Calibri" pitchFamily="34" charset="-120"/>
                        </a:rPr>
                        <a:t>Priya Kapoor</a:t>
                      </a:r>
                      <a:endParaRPr lang="en-US" sz="11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tc>
                  <a:txBody>
                    <a:bodyPr/>
                    <a:lstStyle/>
                    <a:p>
                      <a:pPr marL="0" indent="0" algn="ctr">
                        <a:buNone/>
                      </a:pPr>
                      <a:r>
                        <a:rPr lang="en-US" sz="1150" b="1" dirty="0">
                          <a:solidFill>
                            <a:srgbClr val="D8654F"/>
                          </a:solidFill>
                          <a:latin typeface="Calibri" pitchFamily="34" charset="0"/>
                          <a:ea typeface="Calibri" pitchFamily="34" charset="-122"/>
                          <a:cs typeface="Calibri" pitchFamily="34" charset="-120"/>
                        </a:rPr>
                        <a:t>Poor Comms</a:t>
                      </a:r>
                      <a:endParaRPr lang="en-US" sz="11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tc>
                  <a:txBody>
                    <a:bodyPr/>
                    <a:lstStyle/>
                    <a:p>
                      <a:pPr marL="0" indent="0" algn="r">
                        <a:buNone/>
                      </a:pPr>
                      <a:r>
                        <a:rPr lang="en-US" sz="1150" dirty="0">
                          <a:solidFill>
                            <a:srgbClr val="1A2433"/>
                          </a:solidFill>
                          <a:latin typeface="Calibri" pitchFamily="34" charset="0"/>
                          <a:ea typeface="Calibri" pitchFamily="34" charset="-122"/>
                          <a:cs typeface="Calibri" pitchFamily="34" charset="-120"/>
                        </a:rPr>
                        <a:t>$272,500</a:t>
                      </a:r>
                      <a:endParaRPr lang="en-US" sz="11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extLst>
                  <a:ext uri="{0D108BD9-81ED-4DB2-BD59-A6C34878D82A}">
                    <a16:rowId xmlns:a16="http://schemas.microsoft.com/office/drawing/2014/main" val="10007"/>
                  </a:ext>
                </a:extLst>
              </a:tr>
              <a:tr h="384048">
                <a:tc>
                  <a:txBody>
                    <a:bodyPr/>
                    <a:lstStyle/>
                    <a:p>
                      <a:pPr marL="0" indent="0" algn="l">
                        <a:buNone/>
                      </a:pPr>
                      <a:r>
                        <a:rPr lang="en-US" sz="1150" b="1" dirty="0">
                          <a:solidFill>
                            <a:srgbClr val="1A2433"/>
                          </a:solidFill>
                          <a:latin typeface="Calibri" pitchFamily="34" charset="0"/>
                          <a:ea typeface="Calibri" pitchFamily="34" charset="-122"/>
                          <a:cs typeface="Calibri" pitchFamily="34" charset="-120"/>
                        </a:rPr>
                        <a:t>Sequoia Electrical Associates</a:t>
                      </a:r>
                      <a:endParaRPr lang="en-US" sz="11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2433"/>
                          </a:solidFill>
                          <a:latin typeface="Calibri" pitchFamily="34" charset="0"/>
                          <a:ea typeface="Calibri" pitchFamily="34" charset="-122"/>
                          <a:cs typeface="Calibri" pitchFamily="34" charset="-120"/>
                        </a:rPr>
                        <a:t>Trevor Nguyen</a:t>
                      </a:r>
                      <a:endParaRPr lang="en-US" sz="11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0A83B"/>
                          </a:solidFill>
                          <a:latin typeface="Calibri" pitchFamily="34" charset="0"/>
                          <a:ea typeface="Calibri" pitchFamily="34" charset="-122"/>
                          <a:cs typeface="Calibri" pitchFamily="34" charset="-120"/>
                        </a:rPr>
                        <a:t>Delayed</a:t>
                      </a:r>
                      <a:endParaRPr lang="en-US" sz="11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2433"/>
                          </a:solidFill>
                          <a:latin typeface="Calibri" pitchFamily="34" charset="0"/>
                          <a:ea typeface="Calibri" pitchFamily="34" charset="-122"/>
                          <a:cs typeface="Calibri" pitchFamily="34" charset="-120"/>
                        </a:rPr>
                        <a:t>$259,000</a:t>
                      </a:r>
                      <a:endParaRPr lang="en-US" sz="11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84048">
                <a:tc>
                  <a:txBody>
                    <a:bodyPr/>
                    <a:lstStyle/>
                    <a:p>
                      <a:pPr marL="0" indent="0" algn="l">
                        <a:buNone/>
                      </a:pPr>
                      <a:r>
                        <a:rPr lang="en-US" sz="1150" b="1" dirty="0">
                          <a:solidFill>
                            <a:srgbClr val="1A2433"/>
                          </a:solidFill>
                          <a:latin typeface="Calibri" pitchFamily="34" charset="0"/>
                          <a:ea typeface="Calibri" pitchFamily="34" charset="-122"/>
                          <a:cs typeface="Calibri" pitchFamily="34" charset="-120"/>
                        </a:rPr>
                        <a:t>Golden State Technologies Services</a:t>
                      </a:r>
                      <a:endParaRPr lang="en-US" sz="11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tc>
                  <a:txBody>
                    <a:bodyPr/>
                    <a:lstStyle/>
                    <a:p>
                      <a:pPr marL="0" indent="0" algn="l">
                        <a:buNone/>
                      </a:pPr>
                      <a:r>
                        <a:rPr lang="en-US" sz="1150" dirty="0">
                          <a:solidFill>
                            <a:srgbClr val="1A2433"/>
                          </a:solidFill>
                          <a:latin typeface="Calibri" pitchFamily="34" charset="0"/>
                          <a:ea typeface="Calibri" pitchFamily="34" charset="-122"/>
                          <a:cs typeface="Calibri" pitchFamily="34" charset="-120"/>
                        </a:rPr>
                        <a:t>Andre Boseman</a:t>
                      </a:r>
                      <a:endParaRPr lang="en-US" sz="11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tc>
                  <a:txBody>
                    <a:bodyPr/>
                    <a:lstStyle/>
                    <a:p>
                      <a:pPr marL="0" indent="0" algn="ctr">
                        <a:buNone/>
                      </a:pPr>
                      <a:r>
                        <a:rPr lang="en-US" sz="1150" b="1" dirty="0">
                          <a:solidFill>
                            <a:srgbClr val="D8654F"/>
                          </a:solidFill>
                          <a:latin typeface="Calibri" pitchFamily="34" charset="0"/>
                          <a:ea typeface="Calibri" pitchFamily="34" charset="-122"/>
                          <a:cs typeface="Calibri" pitchFamily="34" charset="-120"/>
                        </a:rPr>
                        <a:t>Poor Comms</a:t>
                      </a:r>
                      <a:endParaRPr lang="en-US" sz="11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tc>
                  <a:txBody>
                    <a:bodyPr/>
                    <a:lstStyle/>
                    <a:p>
                      <a:pPr marL="0" indent="0" algn="r">
                        <a:buNone/>
                      </a:pPr>
                      <a:r>
                        <a:rPr lang="en-US" sz="1150" dirty="0">
                          <a:solidFill>
                            <a:srgbClr val="1A2433"/>
                          </a:solidFill>
                          <a:latin typeface="Calibri" pitchFamily="34" charset="0"/>
                          <a:ea typeface="Calibri" pitchFamily="34" charset="-122"/>
                          <a:cs typeface="Calibri" pitchFamily="34" charset="-120"/>
                        </a:rPr>
                        <a:t>$248,800</a:t>
                      </a:r>
                      <a:endParaRPr lang="en-US" sz="11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extLst>
                  <a:ext uri="{0D108BD9-81ED-4DB2-BD59-A6C34878D82A}">
                    <a16:rowId xmlns:a16="http://schemas.microsoft.com/office/drawing/2014/main" val="10009"/>
                  </a:ext>
                </a:extLst>
              </a:tr>
              <a:tr h="384048">
                <a:tc>
                  <a:txBody>
                    <a:bodyPr/>
                    <a:lstStyle/>
                    <a:p>
                      <a:pPr marL="0" indent="0" algn="l">
                        <a:buNone/>
                      </a:pPr>
                      <a:r>
                        <a:rPr lang="en-US" sz="1150" b="1" dirty="0">
                          <a:solidFill>
                            <a:srgbClr val="1A2433"/>
                          </a:solidFill>
                          <a:latin typeface="Calibri" pitchFamily="34" charset="0"/>
                          <a:ea typeface="Calibri" pitchFamily="34" charset="-122"/>
                          <a:cs typeface="Calibri" pitchFamily="34" charset="-120"/>
                        </a:rPr>
                        <a:t>Sterling Electrical LLC</a:t>
                      </a:r>
                      <a:endParaRPr lang="en-US" sz="11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2433"/>
                          </a:solidFill>
                          <a:latin typeface="Calibri" pitchFamily="34" charset="0"/>
                          <a:ea typeface="Calibri" pitchFamily="34" charset="-122"/>
                          <a:cs typeface="Calibri" pitchFamily="34" charset="-120"/>
                        </a:rPr>
                        <a:t>Trevor Nguyen</a:t>
                      </a:r>
                      <a:endParaRPr lang="en-US" sz="11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0A83B"/>
                          </a:solidFill>
                          <a:latin typeface="Calibri" pitchFamily="34" charset="0"/>
                          <a:ea typeface="Calibri" pitchFamily="34" charset="-122"/>
                          <a:cs typeface="Calibri" pitchFamily="34" charset="-120"/>
                        </a:rPr>
                        <a:t>Delayed</a:t>
                      </a:r>
                      <a:endParaRPr lang="en-US" sz="11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2433"/>
                          </a:solidFill>
                          <a:latin typeface="Calibri" pitchFamily="34" charset="0"/>
                          <a:ea typeface="Calibri" pitchFamily="34" charset="-122"/>
                          <a:cs typeface="Calibri" pitchFamily="34" charset="-120"/>
                        </a:rPr>
                        <a:t>$244,300</a:t>
                      </a:r>
                      <a:endParaRPr lang="en-US" sz="115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6" name="Text 4"/>
          <p:cNvSpPr txBox="1"/>
          <p:nvPr/>
        </p:nvSpPr>
        <p:spPr>
          <a:xfrm>
            <a:off x="640080" y="5989320"/>
            <a:ext cx="10908792" cy="457200"/>
          </a:xfrm>
          <a:prstGeom prst="rect">
            <a:avLst/>
          </a:prstGeom>
          <a:noFill/>
          <a:ln/>
        </p:spPr>
        <p:txBody>
          <a:bodyPr wrap="square" lIns="0" tIns="0" rIns="0" bIns="0" rtlCol="0" anchor="ctr"/>
          <a:lstStyle/>
          <a:p>
            <a:pPr marL="0" indent="0">
              <a:buNone/>
            </a:pPr>
            <a:r>
              <a:rPr lang="en-US" sz="1350" i="1" dirty="0">
                <a:solidFill>
                  <a:srgbClr val="6B7280"/>
                </a:solidFill>
                <a:latin typeface="Calibri" pitchFamily="34" charset="0"/>
                <a:ea typeface="Calibri" pitchFamily="34" charset="-122"/>
                <a:cs typeface="Calibri" pitchFamily="34" charset="-120"/>
              </a:rPr>
              <a:t>The ten highest-dollar at-risk suppliers fit on one screen. This is a targeting problem, not a scramble.</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12B67E"/>
          </a:solidFill>
          <a:ln/>
        </p:spPr>
        <p:txBody>
          <a:bodyPr/>
          <a:lstStyle/>
          <a:p>
            <a:endParaRPr lang="en-US"/>
          </a:p>
        </p:txBody>
      </p:sp>
      <p:sp>
        <p:nvSpPr>
          <p:cNvPr id="3" name="Text 1"/>
          <p:cNvSpPr txBox="1"/>
          <p:nvPr/>
        </p:nvSpPr>
        <p:spPr>
          <a:xfrm>
            <a:off x="640080" y="457200"/>
            <a:ext cx="566928" cy="566928"/>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05</a:t>
            </a:r>
            <a:endParaRPr lang="en-US" sz="1700" dirty="0"/>
          </a:p>
        </p:txBody>
      </p:sp>
      <p:sp>
        <p:nvSpPr>
          <p:cNvPr id="4" name="Text 2"/>
          <p:cNvSpPr txBox="1"/>
          <p:nvPr/>
        </p:nvSpPr>
        <p:spPr>
          <a:xfrm>
            <a:off x="1371600" y="457200"/>
            <a:ext cx="10149840" cy="274320"/>
          </a:xfrm>
          <a:prstGeom prst="rect">
            <a:avLst/>
          </a:prstGeom>
          <a:noFill/>
          <a:ln/>
        </p:spPr>
        <p:txBody>
          <a:bodyPr wrap="square" lIns="0" tIns="0" rIns="0" bIns="0" rtlCol="0" anchor="ctr"/>
          <a:lstStyle/>
          <a:p>
            <a:pPr marL="0" indent="0">
              <a:buNone/>
            </a:pPr>
            <a:r>
              <a:rPr lang="en-US" sz="1200" b="1" kern="0" spc="200" dirty="0">
                <a:solidFill>
                  <a:srgbClr val="0E8F63"/>
                </a:solidFill>
                <a:latin typeface="Calibri" pitchFamily="34" charset="0"/>
                <a:ea typeface="Calibri" pitchFamily="34" charset="-122"/>
                <a:cs typeface="Calibri" pitchFamily="34" charset="-120"/>
              </a:rPr>
              <a:t>COORDINATOR PERFORMANCE</a:t>
            </a:r>
            <a:endParaRPr lang="en-US" sz="1200" dirty="0"/>
          </a:p>
        </p:txBody>
      </p:sp>
      <p:sp>
        <p:nvSpPr>
          <p:cNvPr id="5" name="Text 3"/>
          <p:cNvSpPr txBox="1"/>
          <p:nvPr/>
        </p:nvSpPr>
        <p:spPr>
          <a:xfrm>
            <a:off x="1371600" y="713232"/>
            <a:ext cx="10241280" cy="548640"/>
          </a:xfrm>
          <a:prstGeom prst="rect">
            <a:avLst/>
          </a:prstGeom>
          <a:noFill/>
          <a:ln/>
        </p:spPr>
        <p:txBody>
          <a:bodyPr wrap="square" lIns="0" tIns="0" rIns="0" bIns="0" rtlCol="0" anchor="ctr"/>
          <a:lstStyle/>
          <a:p>
            <a:pPr marL="0" indent="0">
              <a:buNone/>
            </a:pPr>
            <a:r>
              <a:rPr lang="en-US" sz="2600" b="1" dirty="0">
                <a:solidFill>
                  <a:srgbClr val="1A2433"/>
                </a:solidFill>
                <a:latin typeface="Calibri" pitchFamily="34" charset="0"/>
                <a:ea typeface="Calibri" pitchFamily="34" charset="-122"/>
                <a:cs typeface="Calibri" pitchFamily="34" charset="-120"/>
              </a:rPr>
              <a:t>Completion rate, read the way an analyst should: weighted by what each book carries</a:t>
            </a:r>
            <a:endParaRPr lang="en-US" sz="2600" dirty="0"/>
          </a:p>
        </p:txBody>
      </p:sp>
      <p:graphicFrame>
        <p:nvGraphicFramePr>
          <p:cNvPr id="6" name="Chart 0"/>
          <p:cNvGraphicFramePr/>
          <p:nvPr/>
        </p:nvGraphicFramePr>
        <p:xfrm>
          <a:off x="640080" y="1554480"/>
          <a:ext cx="4709160" cy="32461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532120" y="1627632"/>
          <a:ext cx="6016752" cy="3218688"/>
        </p:xfrm>
        <a:graphic>
          <a:graphicData uri="http://schemas.openxmlformats.org/drawingml/2006/table">
            <a:tbl>
              <a:tblPr/>
              <a:tblGrid>
                <a:gridCol w="21488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216152">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tblGrid>
              <a:tr h="402336">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Coordinator</a:t>
                      </a:r>
                      <a:endParaRPr lang="en-US" sz="11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0E2138"/>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Comp %</a:t>
                      </a:r>
                      <a:endParaRPr lang="en-US" sz="11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0E2138"/>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Crit. at-risk</a:t>
                      </a:r>
                      <a:endParaRPr lang="en-US" sz="11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0E2138"/>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Spend at-risk</a:t>
                      </a:r>
                      <a:endParaRPr lang="en-US" sz="11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0E2138"/>
                    </a:solidFill>
                  </a:tcPr>
                </a:tc>
                <a:extLst>
                  <a:ext uri="{0D108BD9-81ED-4DB2-BD59-A6C34878D82A}">
                    <a16:rowId xmlns:a16="http://schemas.microsoft.com/office/drawing/2014/main" val="10000"/>
                  </a:ext>
                </a:extLst>
              </a:tr>
              <a:tr h="402336">
                <a:tc>
                  <a:txBody>
                    <a:bodyPr/>
                    <a:lstStyle/>
                    <a:p>
                      <a:pPr marL="0" indent="0" algn="l">
                        <a:buNone/>
                      </a:pPr>
                      <a:r>
                        <a:rPr lang="en-US" sz="1100" b="1" dirty="0">
                          <a:solidFill>
                            <a:srgbClr val="1A2433"/>
                          </a:solidFill>
                          <a:latin typeface="Calibri" pitchFamily="34" charset="0"/>
                          <a:ea typeface="Calibri" pitchFamily="34" charset="-122"/>
                          <a:cs typeface="Calibri" pitchFamily="34" charset="-120"/>
                        </a:rPr>
                        <a:t>Marisol Reyes</a:t>
                      </a:r>
                      <a:endParaRPr lang="en-US" sz="11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tc>
                  <a:txBody>
                    <a:bodyPr/>
                    <a:lstStyle/>
                    <a:p>
                      <a:pPr marL="0" indent="0" algn="ctr">
                        <a:buNone/>
                      </a:pPr>
                      <a:r>
                        <a:rPr lang="en-US" sz="1100" dirty="0">
                          <a:solidFill>
                            <a:srgbClr val="1A2433"/>
                          </a:solidFill>
                          <a:latin typeface="Calibri" pitchFamily="34" charset="0"/>
                          <a:ea typeface="Calibri" pitchFamily="34" charset="-122"/>
                          <a:cs typeface="Calibri" pitchFamily="34" charset="-120"/>
                        </a:rPr>
                        <a:t>57%</a:t>
                      </a:r>
                      <a:endParaRPr lang="en-US" sz="11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tc>
                  <a:txBody>
                    <a:bodyPr/>
                    <a:lstStyle/>
                    <a:p>
                      <a:pPr marL="0" indent="0" algn="ctr">
                        <a:buNone/>
                      </a:pPr>
                      <a:r>
                        <a:rPr lang="en-US" sz="1100" dirty="0">
                          <a:solidFill>
                            <a:srgbClr val="1A2433"/>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tc>
                  <a:txBody>
                    <a:bodyPr/>
                    <a:lstStyle/>
                    <a:p>
                      <a:pPr marL="0" indent="0" algn="r">
                        <a:buNone/>
                      </a:pPr>
                      <a:r>
                        <a:rPr lang="en-US" sz="1100" dirty="0">
                          <a:solidFill>
                            <a:srgbClr val="1A2433"/>
                          </a:solidFill>
                          <a:latin typeface="Calibri" pitchFamily="34" charset="0"/>
                          <a:ea typeface="Calibri" pitchFamily="34" charset="-122"/>
                          <a:cs typeface="Calibri" pitchFamily="34" charset="-120"/>
                        </a:rPr>
                        <a:t>$1,843,300</a:t>
                      </a:r>
                      <a:endParaRPr lang="en-US" sz="11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extLst>
                  <a:ext uri="{0D108BD9-81ED-4DB2-BD59-A6C34878D82A}">
                    <a16:rowId xmlns:a16="http://schemas.microsoft.com/office/drawing/2014/main" val="10001"/>
                  </a:ext>
                </a:extLst>
              </a:tr>
              <a:tr h="402336">
                <a:tc>
                  <a:txBody>
                    <a:bodyPr/>
                    <a:lstStyle/>
                    <a:p>
                      <a:pPr marL="0" indent="0" algn="l">
                        <a:buNone/>
                      </a:pPr>
                      <a:r>
                        <a:rPr lang="en-US" sz="1100" b="1" dirty="0">
                          <a:solidFill>
                            <a:srgbClr val="1A2433"/>
                          </a:solidFill>
                          <a:latin typeface="Calibri" pitchFamily="34" charset="0"/>
                          <a:ea typeface="Calibri" pitchFamily="34" charset="-122"/>
                          <a:cs typeface="Calibri" pitchFamily="34" charset="-120"/>
                        </a:rPr>
                        <a:t>Trevor Nguyen</a:t>
                      </a:r>
                      <a:endParaRPr lang="en-US" sz="11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433"/>
                          </a:solidFill>
                          <a:latin typeface="Calibri" pitchFamily="34" charset="0"/>
                          <a:ea typeface="Calibri" pitchFamily="34" charset="-122"/>
                          <a:cs typeface="Calibri" pitchFamily="34" charset="-120"/>
                        </a:rPr>
                        <a:t>57%</a:t>
                      </a:r>
                      <a:endParaRPr lang="en-US" sz="11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433"/>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A2433"/>
                          </a:solidFill>
                          <a:latin typeface="Calibri" pitchFamily="34" charset="0"/>
                          <a:ea typeface="Calibri" pitchFamily="34" charset="-122"/>
                          <a:cs typeface="Calibri" pitchFamily="34" charset="-120"/>
                        </a:rPr>
                        <a:t>$1,627,600</a:t>
                      </a:r>
                      <a:endParaRPr lang="en-US" sz="11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lgn="l">
                        <a:buNone/>
                      </a:pPr>
                      <a:r>
                        <a:rPr lang="en-US" sz="1100" b="1" dirty="0">
                          <a:solidFill>
                            <a:srgbClr val="1A2433"/>
                          </a:solidFill>
                          <a:latin typeface="Calibri" pitchFamily="34" charset="0"/>
                          <a:ea typeface="Calibri" pitchFamily="34" charset="-122"/>
                          <a:cs typeface="Calibri" pitchFamily="34" charset="-120"/>
                        </a:rPr>
                        <a:t>Damon Fields</a:t>
                      </a:r>
                      <a:endParaRPr lang="en-US" sz="11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tc>
                  <a:txBody>
                    <a:bodyPr/>
                    <a:lstStyle/>
                    <a:p>
                      <a:pPr marL="0" indent="0" algn="ctr">
                        <a:buNone/>
                      </a:pPr>
                      <a:r>
                        <a:rPr lang="en-US" sz="1100" dirty="0">
                          <a:solidFill>
                            <a:srgbClr val="1A2433"/>
                          </a:solidFill>
                          <a:latin typeface="Calibri" pitchFamily="34" charset="0"/>
                          <a:ea typeface="Calibri" pitchFamily="34" charset="-122"/>
                          <a:cs typeface="Calibri" pitchFamily="34" charset="-120"/>
                        </a:rPr>
                        <a:t>38%</a:t>
                      </a:r>
                      <a:endParaRPr lang="en-US" sz="11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tc>
                  <a:txBody>
                    <a:bodyPr/>
                    <a:lstStyle/>
                    <a:p>
                      <a:pPr marL="0" indent="0" algn="ctr">
                        <a:buNone/>
                      </a:pPr>
                      <a:r>
                        <a:rPr lang="en-US" sz="1100" dirty="0">
                          <a:solidFill>
                            <a:srgbClr val="1A2433"/>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tc>
                  <a:txBody>
                    <a:bodyPr/>
                    <a:lstStyle/>
                    <a:p>
                      <a:pPr marL="0" indent="0" algn="r">
                        <a:buNone/>
                      </a:pPr>
                      <a:r>
                        <a:rPr lang="en-US" sz="1100" dirty="0">
                          <a:solidFill>
                            <a:srgbClr val="1A2433"/>
                          </a:solidFill>
                          <a:latin typeface="Calibri" pitchFamily="34" charset="0"/>
                          <a:ea typeface="Calibri" pitchFamily="34" charset="-122"/>
                          <a:cs typeface="Calibri" pitchFamily="34" charset="-120"/>
                        </a:rPr>
                        <a:t>$1,656,700</a:t>
                      </a:r>
                      <a:endParaRPr lang="en-US" sz="11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extLst>
                  <a:ext uri="{0D108BD9-81ED-4DB2-BD59-A6C34878D82A}">
                    <a16:rowId xmlns:a16="http://schemas.microsoft.com/office/drawing/2014/main" val="10003"/>
                  </a:ext>
                </a:extLst>
              </a:tr>
              <a:tr h="402336">
                <a:tc>
                  <a:txBody>
                    <a:bodyPr/>
                    <a:lstStyle/>
                    <a:p>
                      <a:pPr marL="0" indent="0" algn="l">
                        <a:buNone/>
                      </a:pPr>
                      <a:r>
                        <a:rPr lang="en-US" sz="1100" b="1" dirty="0">
                          <a:solidFill>
                            <a:srgbClr val="1A2433"/>
                          </a:solidFill>
                          <a:latin typeface="Calibri" pitchFamily="34" charset="0"/>
                          <a:ea typeface="Calibri" pitchFamily="34" charset="-122"/>
                          <a:cs typeface="Calibri" pitchFamily="34" charset="-120"/>
                        </a:rPr>
                        <a:t>Andre Boseman</a:t>
                      </a:r>
                      <a:endParaRPr lang="en-US" sz="11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433"/>
                          </a:solidFill>
                          <a:latin typeface="Calibri" pitchFamily="34" charset="0"/>
                          <a:ea typeface="Calibri" pitchFamily="34" charset="-122"/>
                          <a:cs typeface="Calibri" pitchFamily="34" charset="-120"/>
                        </a:rPr>
                        <a:t>38%</a:t>
                      </a:r>
                      <a:endParaRPr lang="en-US" sz="11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433"/>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A2433"/>
                          </a:solidFill>
                          <a:latin typeface="Calibri" pitchFamily="34" charset="0"/>
                          <a:ea typeface="Calibri" pitchFamily="34" charset="-122"/>
                          <a:cs typeface="Calibri" pitchFamily="34" charset="-120"/>
                        </a:rPr>
                        <a:t>$1,180,400</a:t>
                      </a:r>
                      <a:endParaRPr lang="en-US" sz="11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2336">
                <a:tc>
                  <a:txBody>
                    <a:bodyPr/>
                    <a:lstStyle/>
                    <a:p>
                      <a:pPr marL="0" indent="0" algn="l">
                        <a:buNone/>
                      </a:pPr>
                      <a:r>
                        <a:rPr lang="en-US" sz="1100" b="1" dirty="0">
                          <a:solidFill>
                            <a:srgbClr val="1A2433"/>
                          </a:solidFill>
                          <a:latin typeface="Calibri" pitchFamily="34" charset="0"/>
                          <a:ea typeface="Calibri" pitchFamily="34" charset="-122"/>
                          <a:cs typeface="Calibri" pitchFamily="34" charset="-120"/>
                        </a:rPr>
                        <a:t>Hannah Whitlock</a:t>
                      </a:r>
                      <a:endParaRPr lang="en-US" sz="11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tc>
                  <a:txBody>
                    <a:bodyPr/>
                    <a:lstStyle/>
                    <a:p>
                      <a:pPr marL="0" indent="0" algn="ctr">
                        <a:buNone/>
                      </a:pPr>
                      <a:r>
                        <a:rPr lang="en-US" sz="1100" dirty="0">
                          <a:solidFill>
                            <a:srgbClr val="1A2433"/>
                          </a:solidFill>
                          <a:latin typeface="Calibri" pitchFamily="34" charset="0"/>
                          <a:ea typeface="Calibri" pitchFamily="34" charset="-122"/>
                          <a:cs typeface="Calibri" pitchFamily="34" charset="-120"/>
                        </a:rPr>
                        <a:t>29%</a:t>
                      </a:r>
                      <a:endParaRPr lang="en-US" sz="11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tc>
                  <a:txBody>
                    <a:bodyPr/>
                    <a:lstStyle/>
                    <a:p>
                      <a:pPr marL="0" indent="0" algn="ctr">
                        <a:buNone/>
                      </a:pPr>
                      <a:r>
                        <a:rPr lang="en-US" sz="1100" dirty="0">
                          <a:solidFill>
                            <a:srgbClr val="1A2433"/>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tc>
                  <a:txBody>
                    <a:bodyPr/>
                    <a:lstStyle/>
                    <a:p>
                      <a:pPr marL="0" indent="0" algn="r">
                        <a:buNone/>
                      </a:pPr>
                      <a:r>
                        <a:rPr lang="en-US" sz="1100" dirty="0">
                          <a:solidFill>
                            <a:srgbClr val="1A2433"/>
                          </a:solidFill>
                          <a:latin typeface="Calibri" pitchFamily="34" charset="0"/>
                          <a:ea typeface="Calibri" pitchFamily="34" charset="-122"/>
                          <a:cs typeface="Calibri" pitchFamily="34" charset="-120"/>
                        </a:rPr>
                        <a:t>$1,303,600</a:t>
                      </a:r>
                      <a:endParaRPr lang="en-US" sz="11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extLst>
                  <a:ext uri="{0D108BD9-81ED-4DB2-BD59-A6C34878D82A}">
                    <a16:rowId xmlns:a16="http://schemas.microsoft.com/office/drawing/2014/main" val="10005"/>
                  </a:ext>
                </a:extLst>
              </a:tr>
              <a:tr h="402336">
                <a:tc>
                  <a:txBody>
                    <a:bodyPr/>
                    <a:lstStyle/>
                    <a:p>
                      <a:pPr marL="0" indent="0" algn="l">
                        <a:buNone/>
                      </a:pPr>
                      <a:r>
                        <a:rPr lang="en-US" sz="1100" b="1" dirty="0">
                          <a:solidFill>
                            <a:srgbClr val="1A2433"/>
                          </a:solidFill>
                          <a:latin typeface="Calibri" pitchFamily="34" charset="0"/>
                          <a:ea typeface="Calibri" pitchFamily="34" charset="-122"/>
                          <a:cs typeface="Calibri" pitchFamily="34" charset="-120"/>
                        </a:rPr>
                        <a:t>Priya Kapoor</a:t>
                      </a:r>
                      <a:endParaRPr lang="en-US" sz="11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433"/>
                          </a:solidFill>
                          <a:latin typeface="Calibri" pitchFamily="34" charset="0"/>
                          <a:ea typeface="Calibri" pitchFamily="34" charset="-122"/>
                          <a:cs typeface="Calibri" pitchFamily="34" charset="-120"/>
                        </a:rPr>
                        <a:t>28%</a:t>
                      </a:r>
                      <a:endParaRPr lang="en-US" sz="11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433"/>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A2433"/>
                          </a:solidFill>
                          <a:latin typeface="Calibri" pitchFamily="34" charset="0"/>
                          <a:ea typeface="Calibri" pitchFamily="34" charset="-122"/>
                          <a:cs typeface="Calibri" pitchFamily="34" charset="-120"/>
                        </a:rPr>
                        <a:t>$920,600</a:t>
                      </a:r>
                      <a:endParaRPr lang="en-US" sz="11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02336">
                <a:tc>
                  <a:txBody>
                    <a:bodyPr/>
                    <a:lstStyle/>
                    <a:p>
                      <a:pPr marL="0" indent="0" algn="l">
                        <a:buNone/>
                      </a:pPr>
                      <a:r>
                        <a:rPr lang="en-US" sz="1100" b="1" dirty="0">
                          <a:solidFill>
                            <a:srgbClr val="1A2433"/>
                          </a:solidFill>
                          <a:latin typeface="Calibri" pitchFamily="34" charset="0"/>
                          <a:ea typeface="Calibri" pitchFamily="34" charset="-122"/>
                          <a:cs typeface="Calibri" pitchFamily="34" charset="-120"/>
                        </a:rPr>
                        <a:t>Yuki Tanaka</a:t>
                      </a:r>
                      <a:endParaRPr lang="en-US" sz="11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tc>
                  <a:txBody>
                    <a:bodyPr/>
                    <a:lstStyle/>
                    <a:p>
                      <a:pPr marL="0" indent="0" algn="ctr">
                        <a:buNone/>
                      </a:pPr>
                      <a:r>
                        <a:rPr lang="en-US" sz="1100" dirty="0">
                          <a:solidFill>
                            <a:srgbClr val="1A2433"/>
                          </a:solidFill>
                          <a:latin typeface="Calibri" pitchFamily="34" charset="0"/>
                          <a:ea typeface="Calibri" pitchFamily="34" charset="-122"/>
                          <a:cs typeface="Calibri" pitchFamily="34" charset="-120"/>
                        </a:rPr>
                        <a:t>19%</a:t>
                      </a:r>
                      <a:endParaRPr lang="en-US" sz="11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tc>
                  <a:txBody>
                    <a:bodyPr/>
                    <a:lstStyle/>
                    <a:p>
                      <a:pPr marL="0" indent="0" algn="ctr">
                        <a:buNone/>
                      </a:pPr>
                      <a:r>
                        <a:rPr lang="en-US" sz="1100" dirty="0">
                          <a:solidFill>
                            <a:srgbClr val="1A2433"/>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tc>
                  <a:txBody>
                    <a:bodyPr/>
                    <a:lstStyle/>
                    <a:p>
                      <a:pPr marL="0" indent="0" algn="r">
                        <a:buNone/>
                      </a:pPr>
                      <a:r>
                        <a:rPr lang="en-US" sz="1100" dirty="0">
                          <a:solidFill>
                            <a:srgbClr val="1A2433"/>
                          </a:solidFill>
                          <a:latin typeface="Calibri" pitchFamily="34" charset="0"/>
                          <a:ea typeface="Calibri" pitchFamily="34" charset="-122"/>
                          <a:cs typeface="Calibri" pitchFamily="34" charset="-120"/>
                        </a:rPr>
                        <a:t>$179,200</a:t>
                      </a:r>
                      <a:endParaRPr lang="en-US" sz="1100" dirty="0">
                        <a:latin typeface="Calibri" charset="0"/>
                        <a:ea typeface="Calibri" charset="0"/>
                        <a:cs typeface="Calibri" charset="0"/>
                      </a:endParaRPr>
                    </a:p>
                  </a:txBody>
                  <a:tcPr anchor="ctr">
                    <a:lnL w="12700" cap="flat" cmpd="sng" algn="ctr">
                      <a:solidFill>
                        <a:srgbClr val="D9DEE5"/>
                      </a:solidFill>
                      <a:prstDash val="solid"/>
                      <a:round/>
                      <a:headEnd type="none" w="med" len="med"/>
                      <a:tailEnd type="none" w="med" len="med"/>
                    </a:lnL>
                    <a:lnR w="12700" cap="flat" cmpd="sng" algn="ctr">
                      <a:solidFill>
                        <a:srgbClr val="D9DEE5"/>
                      </a:solidFill>
                      <a:prstDash val="solid"/>
                      <a:round/>
                      <a:headEnd type="none" w="med" len="med"/>
                      <a:tailEnd type="none" w="med" len="med"/>
                    </a:lnR>
                    <a:lnT w="12700" cap="flat" cmpd="sng" algn="ctr">
                      <a:solidFill>
                        <a:srgbClr val="D9DEE5"/>
                      </a:solidFill>
                      <a:prstDash val="solid"/>
                      <a:round/>
                      <a:headEnd type="none" w="med" len="med"/>
                      <a:tailEnd type="none" w="med" len="med"/>
                    </a:lnT>
                    <a:lnB w="12700" cap="flat" cmpd="sng" algn="ctr">
                      <a:solidFill>
                        <a:srgbClr val="D9DEE5"/>
                      </a:solidFill>
                      <a:prstDash val="solid"/>
                      <a:round/>
                      <a:headEnd type="none" w="med" len="med"/>
                      <a:tailEnd type="none" w="med" len="med"/>
                    </a:lnB>
                    <a:solidFill>
                      <a:srgbClr val="F4F6F8"/>
                    </a:solidFill>
                  </a:tcPr>
                </a:tc>
                <a:extLst>
                  <a:ext uri="{0D108BD9-81ED-4DB2-BD59-A6C34878D82A}">
                    <a16:rowId xmlns:a16="http://schemas.microsoft.com/office/drawing/2014/main" val="10007"/>
                  </a:ext>
                </a:extLst>
              </a:tr>
            </a:tbl>
          </a:graphicData>
        </a:graphic>
      </p:graphicFrame>
      <p:sp>
        <p:nvSpPr>
          <p:cNvPr id="7" name="Shape 4"/>
          <p:cNvSpPr/>
          <p:nvPr/>
        </p:nvSpPr>
        <p:spPr>
          <a:xfrm>
            <a:off x="640080" y="5029200"/>
            <a:ext cx="10908792" cy="1325880"/>
          </a:xfrm>
          <a:prstGeom prst="roundRect">
            <a:avLst>
              <a:gd name="adj" fmla="val 5517"/>
            </a:avLst>
          </a:prstGeom>
          <a:solidFill>
            <a:srgbClr val="EAF7F1"/>
          </a:solidFill>
          <a:ln w="12700">
            <a:solidFill>
              <a:srgbClr val="CDEBDD"/>
            </a:solidFill>
            <a:prstDash val="solid"/>
          </a:ln>
        </p:spPr>
        <p:txBody>
          <a:bodyPr/>
          <a:lstStyle/>
          <a:p>
            <a:endParaRPr lang="en-US"/>
          </a:p>
        </p:txBody>
      </p:sp>
      <p:sp>
        <p:nvSpPr>
          <p:cNvPr id="9" name="Text 5"/>
          <p:cNvSpPr txBox="1"/>
          <p:nvPr/>
        </p:nvSpPr>
        <p:spPr>
          <a:xfrm>
            <a:off x="914400" y="5175504"/>
            <a:ext cx="2743200" cy="274320"/>
          </a:xfrm>
          <a:prstGeom prst="rect">
            <a:avLst/>
          </a:prstGeom>
          <a:noFill/>
          <a:ln/>
        </p:spPr>
        <p:txBody>
          <a:bodyPr wrap="square" lIns="0" tIns="0" rIns="0" bIns="0" rtlCol="0" anchor="ctr"/>
          <a:lstStyle/>
          <a:p>
            <a:pPr marL="0" indent="0">
              <a:buNone/>
            </a:pPr>
            <a:r>
              <a:rPr lang="en-US" sz="1200" b="1" kern="0" spc="200" dirty="0">
                <a:solidFill>
                  <a:srgbClr val="0E8F63"/>
                </a:solidFill>
                <a:latin typeface="Calibri" pitchFamily="34" charset="0"/>
                <a:ea typeface="Calibri" pitchFamily="34" charset="-122"/>
                <a:cs typeface="Calibri" pitchFamily="34" charset="-120"/>
              </a:rPr>
              <a:t>TAKEAWAY</a:t>
            </a:r>
            <a:endParaRPr lang="en-US" sz="1200" dirty="0"/>
          </a:p>
        </p:txBody>
      </p:sp>
      <p:sp>
        <p:nvSpPr>
          <p:cNvPr id="10" name="Text 6"/>
          <p:cNvSpPr txBox="1"/>
          <p:nvPr/>
        </p:nvSpPr>
        <p:spPr>
          <a:xfrm>
            <a:off x="914400" y="5449824"/>
            <a:ext cx="10378440" cy="822960"/>
          </a:xfrm>
          <a:prstGeom prst="rect">
            <a:avLst/>
          </a:prstGeom>
          <a:noFill/>
          <a:ln/>
        </p:spPr>
        <p:txBody>
          <a:bodyPr wrap="square" lIns="0" tIns="0" rIns="0" bIns="0" rtlCol="0" anchor="ctr"/>
          <a:lstStyle/>
          <a:p>
            <a:pPr marL="0" indent="0">
              <a:lnSpc>
                <a:spcPct val="104000"/>
              </a:lnSpc>
              <a:buNone/>
            </a:pPr>
            <a:r>
              <a:rPr lang="en-US" sz="1450" dirty="0">
                <a:solidFill>
                  <a:srgbClr val="1A2433"/>
                </a:solidFill>
                <a:latin typeface="Calibri" pitchFamily="34" charset="0"/>
                <a:ea typeface="Calibri" pitchFamily="34" charset="-122"/>
                <a:cs typeface="Calibri" pitchFamily="34" charset="-120"/>
              </a:rPr>
              <a:t>Marisol and Trevor lead at 57%, but they also carry the highest at-risk exposure because they were handed the heaviest critical, high-dollar books. Their 57% is more impressive, not less. The reverse holds for Yuki: lowest completion (19%) but zero critical at-risk and only $179K exposed. Low completion does not equal high risk.</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12B67E"/>
          </a:solidFill>
          <a:ln/>
        </p:spPr>
        <p:txBody>
          <a:bodyPr/>
          <a:lstStyle/>
          <a:p>
            <a:endParaRPr lang="en-US"/>
          </a:p>
        </p:txBody>
      </p:sp>
      <p:sp>
        <p:nvSpPr>
          <p:cNvPr id="3" name="Text 1"/>
          <p:cNvSpPr txBox="1"/>
          <p:nvPr/>
        </p:nvSpPr>
        <p:spPr>
          <a:xfrm>
            <a:off x="640080" y="457200"/>
            <a:ext cx="566928" cy="566928"/>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06</a:t>
            </a:r>
            <a:endParaRPr lang="en-US" sz="1700" dirty="0"/>
          </a:p>
        </p:txBody>
      </p:sp>
      <p:sp>
        <p:nvSpPr>
          <p:cNvPr id="4" name="Text 2"/>
          <p:cNvSpPr txBox="1"/>
          <p:nvPr/>
        </p:nvSpPr>
        <p:spPr>
          <a:xfrm>
            <a:off x="1371600" y="457200"/>
            <a:ext cx="10149840" cy="274320"/>
          </a:xfrm>
          <a:prstGeom prst="rect">
            <a:avLst/>
          </a:prstGeom>
          <a:noFill/>
          <a:ln/>
        </p:spPr>
        <p:txBody>
          <a:bodyPr wrap="square" lIns="0" tIns="0" rIns="0" bIns="0" rtlCol="0" anchor="ctr"/>
          <a:lstStyle/>
          <a:p>
            <a:pPr marL="0" indent="0">
              <a:buNone/>
            </a:pPr>
            <a:r>
              <a:rPr lang="en-US" sz="1200" b="1" kern="0" spc="200" dirty="0">
                <a:solidFill>
                  <a:srgbClr val="0E8F63"/>
                </a:solidFill>
                <a:latin typeface="Calibri" pitchFamily="34" charset="0"/>
                <a:ea typeface="Calibri" pitchFamily="34" charset="-122"/>
                <a:cs typeface="Calibri" pitchFamily="34" charset="-120"/>
              </a:rPr>
              <a:t>RED FLAGS</a:t>
            </a:r>
            <a:endParaRPr lang="en-US" sz="1200" dirty="0"/>
          </a:p>
        </p:txBody>
      </p:sp>
      <p:sp>
        <p:nvSpPr>
          <p:cNvPr id="5" name="Text 3"/>
          <p:cNvSpPr txBox="1"/>
          <p:nvPr/>
        </p:nvSpPr>
        <p:spPr>
          <a:xfrm>
            <a:off x="1371600" y="713232"/>
            <a:ext cx="10241280" cy="548640"/>
          </a:xfrm>
          <a:prstGeom prst="rect">
            <a:avLst/>
          </a:prstGeom>
          <a:noFill/>
          <a:ln/>
        </p:spPr>
        <p:txBody>
          <a:bodyPr wrap="square" lIns="0" tIns="0" rIns="0" bIns="0" rtlCol="0" anchor="ctr"/>
          <a:lstStyle/>
          <a:p>
            <a:pPr marL="0" indent="0">
              <a:buNone/>
            </a:pPr>
            <a:r>
              <a:rPr lang="en-US" sz="2600" b="1" dirty="0">
                <a:solidFill>
                  <a:srgbClr val="1A2433"/>
                </a:solidFill>
                <a:latin typeface="Calibri" pitchFamily="34" charset="0"/>
                <a:ea typeface="Calibri" pitchFamily="34" charset="-122"/>
                <a:cs typeface="Calibri" pitchFamily="34" charset="-120"/>
              </a:rPr>
              <a:t>Two concentration patterns a status average would hide</a:t>
            </a:r>
            <a:endParaRPr lang="en-US" sz="2600" dirty="0"/>
          </a:p>
        </p:txBody>
      </p:sp>
      <p:sp>
        <p:nvSpPr>
          <p:cNvPr id="6" name="Shape 4"/>
          <p:cNvSpPr/>
          <p:nvPr/>
        </p:nvSpPr>
        <p:spPr>
          <a:xfrm>
            <a:off x="640080" y="1600200"/>
            <a:ext cx="5349240" cy="3200400"/>
          </a:xfrm>
          <a:prstGeom prst="roundRect">
            <a:avLst>
              <a:gd name="adj" fmla="val 2571"/>
            </a:avLst>
          </a:prstGeom>
          <a:solidFill>
            <a:srgbClr val="F4F6F8"/>
          </a:solidFill>
          <a:ln w="12700">
            <a:solidFill>
              <a:srgbClr val="D9DEE5"/>
            </a:solidFill>
            <a:prstDash val="solid"/>
          </a:ln>
        </p:spPr>
        <p:txBody>
          <a:bodyPr/>
          <a:lstStyle/>
          <a:p>
            <a:endParaRPr lang="en-US"/>
          </a:p>
        </p:txBody>
      </p:sp>
      <p:sp>
        <p:nvSpPr>
          <p:cNvPr id="7" name="Text 5"/>
          <p:cNvSpPr txBox="1"/>
          <p:nvPr/>
        </p:nvSpPr>
        <p:spPr>
          <a:xfrm>
            <a:off x="868680" y="1783080"/>
            <a:ext cx="1463040" cy="822960"/>
          </a:xfrm>
          <a:prstGeom prst="rect">
            <a:avLst/>
          </a:prstGeom>
          <a:noFill/>
          <a:ln/>
        </p:spPr>
        <p:txBody>
          <a:bodyPr wrap="square" lIns="0" tIns="0" rIns="0" bIns="0" rtlCol="0" anchor="ctr"/>
          <a:lstStyle/>
          <a:p>
            <a:pPr marL="0" indent="0">
              <a:buNone/>
            </a:pPr>
            <a:r>
              <a:rPr lang="en-US" sz="4400" b="1" dirty="0">
                <a:solidFill>
                  <a:srgbClr val="D8654F"/>
                </a:solidFill>
                <a:latin typeface="Calibri" pitchFamily="34" charset="0"/>
                <a:ea typeface="Calibri" pitchFamily="34" charset="-122"/>
                <a:cs typeface="Calibri" pitchFamily="34" charset="-120"/>
              </a:rPr>
              <a:t>23</a:t>
            </a:r>
            <a:endParaRPr lang="en-US" sz="4400" dirty="0"/>
          </a:p>
        </p:txBody>
      </p:sp>
      <p:sp>
        <p:nvSpPr>
          <p:cNvPr id="8" name="Text 6"/>
          <p:cNvSpPr txBox="1"/>
          <p:nvPr/>
        </p:nvSpPr>
        <p:spPr>
          <a:xfrm>
            <a:off x="2286000" y="1874520"/>
            <a:ext cx="3520440" cy="777240"/>
          </a:xfrm>
          <a:prstGeom prst="rect">
            <a:avLst/>
          </a:prstGeom>
          <a:noFill/>
          <a:ln/>
        </p:spPr>
        <p:txBody>
          <a:bodyPr wrap="square" lIns="0" tIns="0" rIns="0" bIns="0" rtlCol="0" anchor="ctr"/>
          <a:lstStyle/>
          <a:p>
            <a:pPr marL="0" indent="0">
              <a:lnSpc>
                <a:spcPct val="100000"/>
              </a:lnSpc>
              <a:buNone/>
            </a:pPr>
            <a:r>
              <a:rPr lang="en-US" sz="1400" b="1" dirty="0">
                <a:solidFill>
                  <a:srgbClr val="1A2433"/>
                </a:solidFill>
                <a:latin typeface="Calibri" pitchFamily="34" charset="0"/>
                <a:ea typeface="Calibri" pitchFamily="34" charset="-122"/>
                <a:cs typeface="Calibri" pitchFamily="34" charset="-120"/>
              </a:rPr>
              <a:t>poor-communication flags,</a:t>
            </a:r>
            <a:endParaRPr lang="en-US" sz="1400" dirty="0"/>
          </a:p>
          <a:p>
            <a:pPr marL="0" indent="0">
              <a:lnSpc>
                <a:spcPct val="100000"/>
              </a:lnSpc>
              <a:buNone/>
            </a:pPr>
            <a:r>
              <a:rPr lang="en-US" sz="1400" b="1" dirty="0">
                <a:solidFill>
                  <a:srgbClr val="1A2433"/>
                </a:solidFill>
                <a:latin typeface="Calibri" pitchFamily="34" charset="0"/>
                <a:ea typeface="Calibri" pitchFamily="34" charset="-122"/>
                <a:cs typeface="Calibri" pitchFamily="34" charset="-120"/>
              </a:rPr>
              <a:t>all held by three coordinators</a:t>
            </a:r>
            <a:endParaRPr lang="en-US" sz="1400" dirty="0"/>
          </a:p>
        </p:txBody>
      </p:sp>
      <p:sp>
        <p:nvSpPr>
          <p:cNvPr id="9" name="Text 7"/>
          <p:cNvSpPr txBox="1"/>
          <p:nvPr/>
        </p:nvSpPr>
        <p:spPr>
          <a:xfrm>
            <a:off x="868680" y="2788920"/>
            <a:ext cx="4937760" cy="822960"/>
          </a:xfrm>
          <a:prstGeom prst="rect">
            <a:avLst/>
          </a:prstGeom>
          <a:noFill/>
          <a:ln/>
        </p:spPr>
        <p:txBody>
          <a:bodyPr wrap="square" lIns="0" tIns="0" rIns="0" bIns="0" rtlCol="0" anchor="ctr"/>
          <a:lstStyle/>
          <a:p>
            <a:pPr marL="0" indent="0">
              <a:lnSpc>
                <a:spcPct val="130000"/>
              </a:lnSpc>
              <a:buNone/>
            </a:pPr>
            <a:r>
              <a:rPr lang="en-US" sz="1350" b="1" dirty="0">
                <a:solidFill>
                  <a:srgbClr val="1A2433"/>
                </a:solidFill>
                <a:latin typeface="Calibri" pitchFamily="34" charset="0"/>
                <a:ea typeface="Calibri" pitchFamily="34" charset="-122"/>
                <a:cs typeface="Calibri" pitchFamily="34" charset="-120"/>
              </a:rPr>
              <a:t>Priya Kapoor  </a:t>
            </a:r>
            <a:r>
              <a:rPr lang="en-US" sz="1350" b="1" dirty="0">
                <a:solidFill>
                  <a:srgbClr val="D8654F"/>
                </a:solidFill>
                <a:latin typeface="Calibri" pitchFamily="34" charset="0"/>
                <a:ea typeface="Calibri" pitchFamily="34" charset="-122"/>
                <a:cs typeface="Calibri" pitchFamily="34" charset="-120"/>
              </a:rPr>
              <a:t>8</a:t>
            </a:r>
            <a:r>
              <a:rPr lang="en-US" sz="1350" b="1" dirty="0">
                <a:solidFill>
                  <a:srgbClr val="1A2433"/>
                </a:solidFill>
                <a:latin typeface="Calibri" pitchFamily="34" charset="0"/>
                <a:ea typeface="Calibri" pitchFamily="34" charset="-122"/>
                <a:cs typeface="Calibri" pitchFamily="34" charset="-120"/>
              </a:rPr>
              <a:t>          Hannah Whitlock  </a:t>
            </a:r>
            <a:r>
              <a:rPr lang="en-US" sz="1350" b="1" dirty="0">
                <a:solidFill>
                  <a:srgbClr val="D8654F"/>
                </a:solidFill>
                <a:latin typeface="Calibri" pitchFamily="34" charset="0"/>
                <a:ea typeface="Calibri" pitchFamily="34" charset="-122"/>
                <a:cs typeface="Calibri" pitchFamily="34" charset="-120"/>
              </a:rPr>
              <a:t>8</a:t>
            </a:r>
            <a:endParaRPr lang="en-US" sz="1350" dirty="0"/>
          </a:p>
          <a:p>
            <a:pPr marL="0" indent="0">
              <a:lnSpc>
                <a:spcPct val="130000"/>
              </a:lnSpc>
              <a:buNone/>
            </a:pPr>
            <a:r>
              <a:rPr lang="en-US" sz="1350" b="1" dirty="0">
                <a:solidFill>
                  <a:srgbClr val="1A2433"/>
                </a:solidFill>
                <a:latin typeface="Calibri" pitchFamily="34" charset="0"/>
                <a:ea typeface="Calibri" pitchFamily="34" charset="-122"/>
                <a:cs typeface="Calibri" pitchFamily="34" charset="-120"/>
              </a:rPr>
              <a:t>Andre Boseman  </a:t>
            </a:r>
            <a:endParaRPr lang="en-US" sz="1350" dirty="0"/>
          </a:p>
          <a:p>
            <a:pPr marL="0" indent="0">
              <a:lnSpc>
                <a:spcPct val="130000"/>
              </a:lnSpc>
              <a:buNone/>
            </a:pPr>
            <a:r>
              <a:rPr lang="en-US" sz="1350" b="1" dirty="0">
                <a:solidFill>
                  <a:srgbClr val="D8654F"/>
                </a:solidFill>
                <a:latin typeface="Calibri" pitchFamily="34" charset="0"/>
                <a:ea typeface="Calibri" pitchFamily="34" charset="-122"/>
                <a:cs typeface="Calibri" pitchFamily="34" charset="-120"/>
              </a:rPr>
              <a:t>7</a:t>
            </a:r>
            <a:r>
              <a:rPr lang="en-US" sz="1350" b="1" dirty="0">
                <a:solidFill>
                  <a:srgbClr val="1A2433"/>
                </a:solidFill>
                <a:latin typeface="Calibri" pitchFamily="34" charset="0"/>
                <a:ea typeface="Calibri" pitchFamily="34" charset="-122"/>
                <a:cs typeface="Calibri" pitchFamily="34" charset="-120"/>
              </a:rPr>
              <a:t>          Other four coordinators  </a:t>
            </a:r>
            <a:r>
              <a:rPr lang="en-US" sz="1350" dirty="0">
                <a:solidFill>
                  <a:srgbClr val="1A2433"/>
                </a:solidFill>
                <a:latin typeface="Calibri" pitchFamily="34" charset="0"/>
                <a:ea typeface="Calibri" pitchFamily="34" charset="-122"/>
                <a:cs typeface="Calibri" pitchFamily="34" charset="-120"/>
              </a:rPr>
              <a:t>0</a:t>
            </a:r>
            <a:endParaRPr lang="en-US" sz="1350" dirty="0"/>
          </a:p>
        </p:txBody>
      </p:sp>
      <p:sp>
        <p:nvSpPr>
          <p:cNvPr id="10" name="Text 8"/>
          <p:cNvSpPr txBox="1"/>
          <p:nvPr/>
        </p:nvSpPr>
        <p:spPr>
          <a:xfrm>
            <a:off x="868680" y="3794760"/>
            <a:ext cx="4937760" cy="868680"/>
          </a:xfrm>
          <a:prstGeom prst="rect">
            <a:avLst/>
          </a:prstGeom>
          <a:noFill/>
          <a:ln/>
        </p:spPr>
        <p:txBody>
          <a:bodyPr wrap="square" lIns="0" tIns="0" rIns="0" bIns="0" rtlCol="0" anchor="ctr"/>
          <a:lstStyle/>
          <a:p>
            <a:pPr marL="0" indent="0">
              <a:lnSpc>
                <a:spcPct val="105000"/>
              </a:lnSpc>
              <a:buNone/>
            </a:pPr>
            <a:r>
              <a:rPr lang="en-US" sz="1250" dirty="0">
                <a:solidFill>
                  <a:srgbClr val="6B7280"/>
                </a:solidFill>
                <a:latin typeface="Calibri" pitchFamily="34" charset="0"/>
                <a:ea typeface="Calibri" pitchFamily="34" charset="-122"/>
                <a:cs typeface="Calibri" pitchFamily="34" charset="-120"/>
              </a:rPr>
              <a:t>When a problem clusters this cleanly it is rarely coincidence: workload, vendor quality, or a coaching gap. Diagnose before treating the symptom.</a:t>
            </a:r>
            <a:endParaRPr lang="en-US" sz="1250" dirty="0"/>
          </a:p>
        </p:txBody>
      </p:sp>
      <p:sp>
        <p:nvSpPr>
          <p:cNvPr id="11" name="Shape 9"/>
          <p:cNvSpPr/>
          <p:nvPr/>
        </p:nvSpPr>
        <p:spPr>
          <a:xfrm>
            <a:off x="6199632" y="1600200"/>
            <a:ext cx="5349240" cy="3200400"/>
          </a:xfrm>
          <a:prstGeom prst="roundRect">
            <a:avLst>
              <a:gd name="adj" fmla="val 2571"/>
            </a:avLst>
          </a:prstGeom>
          <a:solidFill>
            <a:srgbClr val="F4F6F8"/>
          </a:solidFill>
          <a:ln w="12700">
            <a:solidFill>
              <a:srgbClr val="D9DEE5"/>
            </a:solidFill>
            <a:prstDash val="solid"/>
          </a:ln>
        </p:spPr>
        <p:txBody>
          <a:bodyPr/>
          <a:lstStyle/>
          <a:p>
            <a:endParaRPr lang="en-US"/>
          </a:p>
        </p:txBody>
      </p:sp>
      <p:sp>
        <p:nvSpPr>
          <p:cNvPr id="12" name="Text 10"/>
          <p:cNvSpPr txBox="1"/>
          <p:nvPr/>
        </p:nvSpPr>
        <p:spPr>
          <a:xfrm>
            <a:off x="6428232" y="1783080"/>
            <a:ext cx="1463040" cy="822960"/>
          </a:xfrm>
          <a:prstGeom prst="rect">
            <a:avLst/>
          </a:prstGeom>
          <a:noFill/>
          <a:ln/>
        </p:spPr>
        <p:txBody>
          <a:bodyPr wrap="square" lIns="0" tIns="0" rIns="0" bIns="0" rtlCol="0" anchor="ctr"/>
          <a:lstStyle/>
          <a:p>
            <a:pPr marL="0" indent="0">
              <a:buNone/>
            </a:pPr>
            <a:r>
              <a:rPr lang="en-US" sz="4400" b="1" dirty="0">
                <a:solidFill>
                  <a:srgbClr val="B4472F"/>
                </a:solidFill>
                <a:latin typeface="Calibri" pitchFamily="34" charset="0"/>
                <a:ea typeface="Calibri" pitchFamily="34" charset="-122"/>
                <a:cs typeface="Calibri" pitchFamily="34" charset="-120"/>
              </a:rPr>
              <a:t>12</a:t>
            </a:r>
            <a:endParaRPr lang="en-US" sz="4400" dirty="0"/>
          </a:p>
        </p:txBody>
      </p:sp>
      <p:sp>
        <p:nvSpPr>
          <p:cNvPr id="13" name="Text 11"/>
          <p:cNvSpPr txBox="1"/>
          <p:nvPr/>
        </p:nvSpPr>
        <p:spPr>
          <a:xfrm>
            <a:off x="7845552" y="1874520"/>
            <a:ext cx="3520440" cy="777240"/>
          </a:xfrm>
          <a:prstGeom prst="rect">
            <a:avLst/>
          </a:prstGeom>
          <a:noFill/>
          <a:ln/>
        </p:spPr>
        <p:txBody>
          <a:bodyPr wrap="square" lIns="0" tIns="0" rIns="0" bIns="0" rtlCol="0" anchor="ctr"/>
          <a:lstStyle/>
          <a:p>
            <a:pPr marL="0" indent="0">
              <a:lnSpc>
                <a:spcPct val="100000"/>
              </a:lnSpc>
              <a:buNone/>
            </a:pPr>
            <a:r>
              <a:rPr lang="en-US" sz="1400" b="1" dirty="0">
                <a:solidFill>
                  <a:srgbClr val="1A2433"/>
                </a:solidFill>
                <a:latin typeface="Calibri" pitchFamily="34" charset="0"/>
                <a:ea typeface="Calibri" pitchFamily="34" charset="-122"/>
                <a:cs typeface="Calibri" pitchFamily="34" charset="-120"/>
              </a:rPr>
              <a:t>end-of-day (EOD) delays,</a:t>
            </a:r>
            <a:endParaRPr lang="en-US" sz="1400" dirty="0"/>
          </a:p>
          <a:p>
            <a:pPr marL="0" indent="0">
              <a:lnSpc>
                <a:spcPct val="100000"/>
              </a:lnSpc>
              <a:buNone/>
            </a:pPr>
            <a:r>
              <a:rPr lang="en-US" sz="1400" b="1" dirty="0">
                <a:solidFill>
                  <a:srgbClr val="1A2433"/>
                </a:solidFill>
                <a:latin typeface="Calibri" pitchFamily="34" charset="0"/>
                <a:ea typeface="Calibri" pitchFamily="34" charset="-122"/>
                <a:cs typeface="Calibri" pitchFamily="34" charset="-120"/>
              </a:rPr>
              <a:t>all on one coordinator</a:t>
            </a:r>
            <a:endParaRPr lang="en-US" sz="1400" dirty="0"/>
          </a:p>
        </p:txBody>
      </p:sp>
      <p:sp>
        <p:nvSpPr>
          <p:cNvPr id="14" name="Text 12"/>
          <p:cNvSpPr txBox="1"/>
          <p:nvPr/>
        </p:nvSpPr>
        <p:spPr>
          <a:xfrm>
            <a:off x="6428232" y="2880360"/>
            <a:ext cx="4937760" cy="457200"/>
          </a:xfrm>
          <a:prstGeom prst="rect">
            <a:avLst/>
          </a:prstGeom>
          <a:noFill/>
          <a:ln/>
        </p:spPr>
        <p:txBody>
          <a:bodyPr wrap="square" lIns="0" tIns="0" rIns="0" bIns="0" rtlCol="0" anchor="ctr"/>
          <a:lstStyle/>
          <a:p>
            <a:pPr marL="0" indent="0">
              <a:buNone/>
            </a:pPr>
            <a:r>
              <a:rPr lang="en-US" sz="1350" b="1" dirty="0">
                <a:solidFill>
                  <a:srgbClr val="1A2433"/>
                </a:solidFill>
                <a:latin typeface="Calibri" pitchFamily="34" charset="0"/>
                <a:ea typeface="Calibri" pitchFamily="34" charset="-122"/>
                <a:cs typeface="Calibri" pitchFamily="34" charset="-120"/>
              </a:rPr>
              <a:t>Damon Fields  </a:t>
            </a:r>
            <a:r>
              <a:rPr lang="en-US" sz="1350" b="1" dirty="0">
                <a:solidFill>
                  <a:srgbClr val="B4472F"/>
                </a:solidFill>
                <a:latin typeface="Calibri" pitchFamily="34" charset="0"/>
                <a:ea typeface="Calibri" pitchFamily="34" charset="-122"/>
                <a:cs typeface="Calibri" pitchFamily="34" charset="-120"/>
              </a:rPr>
              <a:t>12 of 12</a:t>
            </a:r>
            <a:r>
              <a:rPr lang="en-US" sz="1350" dirty="0">
                <a:solidFill>
                  <a:srgbClr val="1A2433"/>
                </a:solidFill>
                <a:latin typeface="Calibri" pitchFamily="34" charset="0"/>
                <a:ea typeface="Calibri" pitchFamily="34" charset="-122"/>
                <a:cs typeface="Calibri" pitchFamily="34" charset="-120"/>
              </a:rPr>
              <a:t>   (100%)</a:t>
            </a:r>
            <a:endParaRPr lang="en-US" sz="1350" dirty="0"/>
          </a:p>
        </p:txBody>
      </p:sp>
      <p:sp>
        <p:nvSpPr>
          <p:cNvPr id="15" name="Text 13"/>
          <p:cNvSpPr txBox="1"/>
          <p:nvPr/>
        </p:nvSpPr>
        <p:spPr>
          <a:xfrm>
            <a:off x="6428232" y="3429000"/>
            <a:ext cx="4937760" cy="1005840"/>
          </a:xfrm>
          <a:prstGeom prst="rect">
            <a:avLst/>
          </a:prstGeom>
          <a:noFill/>
          <a:ln/>
        </p:spPr>
        <p:txBody>
          <a:bodyPr wrap="square" lIns="0" tIns="0" rIns="0" bIns="0" rtlCol="0" anchor="ctr"/>
          <a:lstStyle/>
          <a:p>
            <a:pPr marL="0" indent="0">
              <a:lnSpc>
                <a:spcPct val="105000"/>
              </a:lnSpc>
              <a:buNone/>
            </a:pPr>
            <a:r>
              <a:rPr lang="en-US" sz="1250" dirty="0">
                <a:solidFill>
                  <a:srgbClr val="6B7280"/>
                </a:solidFill>
                <a:latin typeface="Calibri" pitchFamily="34" charset="0"/>
                <a:ea typeface="Calibri" pitchFamily="34" charset="-122"/>
                <a:cs typeface="Calibri" pitchFamily="34" charset="-120"/>
              </a:rPr>
              <a:t>A single coordinator holding 100% of the most time-sensitive delays signals a bottleneck. Reinforce or partially reassign his hard-deadline vendors before those deadlines pass.</a:t>
            </a:r>
            <a:endParaRPr lang="en-US" sz="1250" dirty="0"/>
          </a:p>
        </p:txBody>
      </p:sp>
      <p:sp>
        <p:nvSpPr>
          <p:cNvPr id="16" name="Shape 14"/>
          <p:cNvSpPr/>
          <p:nvPr/>
        </p:nvSpPr>
        <p:spPr>
          <a:xfrm>
            <a:off x="640080" y="5029200"/>
            <a:ext cx="10908792" cy="1325880"/>
          </a:xfrm>
          <a:prstGeom prst="roundRect">
            <a:avLst>
              <a:gd name="adj" fmla="val 5517"/>
            </a:avLst>
          </a:prstGeom>
          <a:solidFill>
            <a:srgbClr val="EAF7F1"/>
          </a:solidFill>
          <a:ln w="12700">
            <a:solidFill>
              <a:srgbClr val="CDEBDD"/>
            </a:solidFill>
            <a:prstDash val="solid"/>
          </a:ln>
        </p:spPr>
        <p:txBody>
          <a:bodyPr/>
          <a:lstStyle/>
          <a:p>
            <a:endParaRPr lang="en-US"/>
          </a:p>
        </p:txBody>
      </p:sp>
      <p:sp>
        <p:nvSpPr>
          <p:cNvPr id="17" name="Text 15"/>
          <p:cNvSpPr txBox="1"/>
          <p:nvPr/>
        </p:nvSpPr>
        <p:spPr>
          <a:xfrm>
            <a:off x="914400" y="5175504"/>
            <a:ext cx="2743200" cy="274320"/>
          </a:xfrm>
          <a:prstGeom prst="rect">
            <a:avLst/>
          </a:prstGeom>
          <a:noFill/>
          <a:ln/>
        </p:spPr>
        <p:txBody>
          <a:bodyPr wrap="square" lIns="0" tIns="0" rIns="0" bIns="0" rtlCol="0" anchor="ctr"/>
          <a:lstStyle/>
          <a:p>
            <a:pPr marL="0" indent="0">
              <a:buNone/>
            </a:pPr>
            <a:r>
              <a:rPr lang="en-US" sz="1200" b="1" kern="0" spc="200" dirty="0">
                <a:solidFill>
                  <a:srgbClr val="0E8F63"/>
                </a:solidFill>
                <a:latin typeface="Calibri" pitchFamily="34" charset="0"/>
                <a:ea typeface="Calibri" pitchFamily="34" charset="-122"/>
                <a:cs typeface="Calibri" pitchFamily="34" charset="-120"/>
              </a:rPr>
              <a:t>TAKEAWAY</a:t>
            </a:r>
            <a:endParaRPr lang="en-US" sz="1200" dirty="0"/>
          </a:p>
        </p:txBody>
      </p:sp>
      <p:sp>
        <p:nvSpPr>
          <p:cNvPr id="18" name="Text 16"/>
          <p:cNvSpPr txBox="1"/>
          <p:nvPr/>
        </p:nvSpPr>
        <p:spPr>
          <a:xfrm>
            <a:off x="914400" y="5449824"/>
            <a:ext cx="10378440" cy="822960"/>
          </a:xfrm>
          <a:prstGeom prst="rect">
            <a:avLst/>
          </a:prstGeom>
          <a:noFill/>
          <a:ln/>
        </p:spPr>
        <p:txBody>
          <a:bodyPr wrap="square" lIns="0" tIns="0" rIns="0" bIns="0" rtlCol="0" anchor="ctr"/>
          <a:lstStyle/>
          <a:p>
            <a:pPr marL="0" indent="0">
              <a:lnSpc>
                <a:spcPct val="104000"/>
              </a:lnSpc>
              <a:buNone/>
            </a:pPr>
            <a:r>
              <a:rPr lang="en-US" sz="1450" dirty="0">
                <a:solidFill>
                  <a:srgbClr val="1A2433"/>
                </a:solidFill>
                <a:latin typeface="Calibri" pitchFamily="34" charset="0"/>
                <a:ea typeface="Calibri" pitchFamily="34" charset="-122"/>
                <a:cs typeface="Calibri" pitchFamily="34" charset="-120"/>
              </a:rPr>
              <a:t>The risk is concentrated and nameable, which makes it fixable. These two patterns point directly at where a manager should spend attention this week.</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12B67E"/>
          </a:solidFill>
          <a:ln/>
        </p:spPr>
        <p:txBody>
          <a:bodyPr/>
          <a:lstStyle/>
          <a:p>
            <a:endParaRPr lang="en-US"/>
          </a:p>
        </p:txBody>
      </p:sp>
      <p:sp>
        <p:nvSpPr>
          <p:cNvPr id="3" name="Text 1"/>
          <p:cNvSpPr txBox="1"/>
          <p:nvPr/>
        </p:nvSpPr>
        <p:spPr>
          <a:xfrm>
            <a:off x="640080" y="457200"/>
            <a:ext cx="566928" cy="566928"/>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07</a:t>
            </a:r>
            <a:endParaRPr lang="en-US" sz="1700" dirty="0"/>
          </a:p>
        </p:txBody>
      </p:sp>
      <p:sp>
        <p:nvSpPr>
          <p:cNvPr id="4" name="Text 2"/>
          <p:cNvSpPr txBox="1"/>
          <p:nvPr/>
        </p:nvSpPr>
        <p:spPr>
          <a:xfrm>
            <a:off x="1371600" y="457200"/>
            <a:ext cx="10149840" cy="274320"/>
          </a:xfrm>
          <a:prstGeom prst="rect">
            <a:avLst/>
          </a:prstGeom>
          <a:noFill/>
          <a:ln/>
        </p:spPr>
        <p:txBody>
          <a:bodyPr wrap="square" lIns="0" tIns="0" rIns="0" bIns="0" rtlCol="0" anchor="ctr"/>
          <a:lstStyle/>
          <a:p>
            <a:pPr marL="0" indent="0">
              <a:buNone/>
            </a:pPr>
            <a:r>
              <a:rPr lang="en-US" sz="1200" b="1" kern="0" spc="200" dirty="0">
                <a:solidFill>
                  <a:srgbClr val="0E8F63"/>
                </a:solidFill>
                <a:latin typeface="Calibri" pitchFamily="34" charset="0"/>
                <a:ea typeface="Calibri" pitchFamily="34" charset="-122"/>
                <a:cs typeface="Calibri" pitchFamily="34" charset="-120"/>
              </a:rPr>
              <a:t>RECOMMENDATIONS</a:t>
            </a:r>
            <a:endParaRPr lang="en-US" sz="1200" dirty="0"/>
          </a:p>
        </p:txBody>
      </p:sp>
      <p:sp>
        <p:nvSpPr>
          <p:cNvPr id="5" name="Text 3"/>
          <p:cNvSpPr txBox="1"/>
          <p:nvPr/>
        </p:nvSpPr>
        <p:spPr>
          <a:xfrm>
            <a:off x="1371600" y="713232"/>
            <a:ext cx="10241280" cy="548640"/>
          </a:xfrm>
          <a:prstGeom prst="rect">
            <a:avLst/>
          </a:prstGeom>
          <a:noFill/>
          <a:ln/>
        </p:spPr>
        <p:txBody>
          <a:bodyPr wrap="square" lIns="0" tIns="0" rIns="0" bIns="0" rtlCol="0" anchor="ctr"/>
          <a:lstStyle/>
          <a:p>
            <a:pPr marL="0" indent="0">
              <a:buNone/>
            </a:pPr>
            <a:r>
              <a:rPr lang="en-US" sz="2600" b="1" dirty="0">
                <a:solidFill>
                  <a:srgbClr val="1A2433"/>
                </a:solidFill>
                <a:latin typeface="Calibri" pitchFamily="34" charset="0"/>
                <a:ea typeface="Calibri" pitchFamily="34" charset="-122"/>
                <a:cs typeface="Calibri" pitchFamily="34" charset="-120"/>
              </a:rPr>
              <a:t>Ordered by risk to opening day</a:t>
            </a:r>
            <a:endParaRPr lang="en-US" sz="2600" dirty="0"/>
          </a:p>
        </p:txBody>
      </p:sp>
      <p:sp>
        <p:nvSpPr>
          <p:cNvPr id="6" name="Shape 4"/>
          <p:cNvSpPr/>
          <p:nvPr/>
        </p:nvSpPr>
        <p:spPr>
          <a:xfrm>
            <a:off x="731520" y="1609344"/>
            <a:ext cx="457200" cy="457200"/>
          </a:xfrm>
          <a:prstGeom prst="ellipse">
            <a:avLst/>
          </a:prstGeom>
          <a:solidFill>
            <a:srgbClr val="12B67E"/>
          </a:solidFill>
          <a:ln/>
        </p:spPr>
        <p:txBody>
          <a:bodyPr/>
          <a:lstStyle/>
          <a:p>
            <a:endParaRPr lang="en-US"/>
          </a:p>
        </p:txBody>
      </p:sp>
      <p:sp>
        <p:nvSpPr>
          <p:cNvPr id="7" name="Text 5"/>
          <p:cNvSpPr txBox="1"/>
          <p:nvPr/>
        </p:nvSpPr>
        <p:spPr>
          <a:xfrm>
            <a:off x="731520" y="1609344"/>
            <a:ext cx="457200" cy="457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txBox="1"/>
          <p:nvPr/>
        </p:nvSpPr>
        <p:spPr>
          <a:xfrm>
            <a:off x="1417320" y="1554480"/>
            <a:ext cx="10058400" cy="347472"/>
          </a:xfrm>
          <a:prstGeom prst="rect">
            <a:avLst/>
          </a:prstGeom>
          <a:noFill/>
          <a:ln/>
        </p:spPr>
        <p:txBody>
          <a:bodyPr wrap="square" lIns="0" tIns="0" rIns="0" bIns="0" rtlCol="0" anchor="ctr"/>
          <a:lstStyle/>
          <a:p>
            <a:pPr marL="0" indent="0">
              <a:buNone/>
            </a:pPr>
            <a:r>
              <a:rPr lang="en-US" sz="1550" b="1" dirty="0">
                <a:solidFill>
                  <a:srgbClr val="1A2433"/>
                </a:solidFill>
                <a:latin typeface="Calibri" pitchFamily="34" charset="0"/>
                <a:ea typeface="Calibri" pitchFamily="34" charset="-122"/>
                <a:cs typeface="Calibri" pitchFamily="34" charset="-120"/>
              </a:rPr>
              <a:t>Triage the $5.55M in critical at-risk suppliers first</a:t>
            </a:r>
            <a:endParaRPr lang="en-US" sz="1550" dirty="0"/>
          </a:p>
        </p:txBody>
      </p:sp>
      <p:sp>
        <p:nvSpPr>
          <p:cNvPr id="9" name="Text 7"/>
          <p:cNvSpPr txBox="1"/>
          <p:nvPr/>
        </p:nvSpPr>
        <p:spPr>
          <a:xfrm>
            <a:off x="1417320" y="1901952"/>
            <a:ext cx="10104120" cy="530352"/>
          </a:xfrm>
          <a:prstGeom prst="rect">
            <a:avLst/>
          </a:prstGeom>
          <a:noFill/>
          <a:ln/>
        </p:spPr>
        <p:txBody>
          <a:bodyPr wrap="square" lIns="0" tIns="0" rIns="0" bIns="0" rtlCol="0" anchor="ctr"/>
          <a:lstStyle/>
          <a:p>
            <a:pPr marL="0" indent="0">
              <a:lnSpc>
                <a:spcPct val="102000"/>
              </a:lnSpc>
              <a:buNone/>
            </a:pPr>
            <a:r>
              <a:rPr lang="en-US" sz="1250" dirty="0">
                <a:solidFill>
                  <a:srgbClr val="6B7280"/>
                </a:solidFill>
                <a:latin typeface="Calibri" pitchFamily="34" charset="0"/>
                <a:ea typeface="Calibri" pitchFamily="34" charset="-122"/>
                <a:cs typeface="Calibri" pitchFamily="34" charset="-120"/>
              </a:rPr>
              <a:t>The only items that can stop the doors from opening. Escalate the top ten, starting with Monarch Mechanical ($434K) and Precision Electrical ($408K).</a:t>
            </a:r>
            <a:endParaRPr lang="en-US" sz="1250" dirty="0"/>
          </a:p>
        </p:txBody>
      </p:sp>
      <p:sp>
        <p:nvSpPr>
          <p:cNvPr id="10" name="Shape 8"/>
          <p:cNvSpPr/>
          <p:nvPr/>
        </p:nvSpPr>
        <p:spPr>
          <a:xfrm>
            <a:off x="731520" y="2542032"/>
            <a:ext cx="457200" cy="457200"/>
          </a:xfrm>
          <a:prstGeom prst="ellipse">
            <a:avLst/>
          </a:prstGeom>
          <a:solidFill>
            <a:srgbClr val="12B67E"/>
          </a:solidFill>
          <a:ln/>
        </p:spPr>
        <p:txBody>
          <a:bodyPr/>
          <a:lstStyle/>
          <a:p>
            <a:endParaRPr lang="en-US"/>
          </a:p>
        </p:txBody>
      </p:sp>
      <p:sp>
        <p:nvSpPr>
          <p:cNvPr id="11" name="Text 9"/>
          <p:cNvSpPr txBox="1"/>
          <p:nvPr/>
        </p:nvSpPr>
        <p:spPr>
          <a:xfrm>
            <a:off x="731520" y="2542032"/>
            <a:ext cx="457200" cy="457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txBox="1"/>
          <p:nvPr/>
        </p:nvSpPr>
        <p:spPr>
          <a:xfrm>
            <a:off x="1417320" y="2487168"/>
            <a:ext cx="10058400" cy="347472"/>
          </a:xfrm>
          <a:prstGeom prst="rect">
            <a:avLst/>
          </a:prstGeom>
          <a:noFill/>
          <a:ln/>
        </p:spPr>
        <p:txBody>
          <a:bodyPr wrap="square" lIns="0" tIns="0" rIns="0" bIns="0" rtlCol="0" anchor="ctr"/>
          <a:lstStyle/>
          <a:p>
            <a:pPr marL="0" indent="0">
              <a:buNone/>
            </a:pPr>
            <a:r>
              <a:rPr lang="en-US" sz="1550" b="1" dirty="0">
                <a:solidFill>
                  <a:srgbClr val="1A2433"/>
                </a:solidFill>
                <a:latin typeface="Calibri" pitchFamily="34" charset="0"/>
                <a:ea typeface="Calibri" pitchFamily="34" charset="-122"/>
                <a:cs typeface="Calibri" pitchFamily="34" charset="-120"/>
              </a:rPr>
              <a:t>Diagnose the poor-communication cluster</a:t>
            </a:r>
            <a:endParaRPr lang="en-US" sz="1550" dirty="0"/>
          </a:p>
        </p:txBody>
      </p:sp>
      <p:sp>
        <p:nvSpPr>
          <p:cNvPr id="13" name="Text 11"/>
          <p:cNvSpPr txBox="1"/>
          <p:nvPr/>
        </p:nvSpPr>
        <p:spPr>
          <a:xfrm>
            <a:off x="1417320" y="2834640"/>
            <a:ext cx="10104120" cy="530352"/>
          </a:xfrm>
          <a:prstGeom prst="rect">
            <a:avLst/>
          </a:prstGeom>
          <a:noFill/>
          <a:ln/>
        </p:spPr>
        <p:txBody>
          <a:bodyPr wrap="square" lIns="0" tIns="0" rIns="0" bIns="0" rtlCol="0" anchor="ctr"/>
          <a:lstStyle/>
          <a:p>
            <a:pPr marL="0" indent="0">
              <a:lnSpc>
                <a:spcPct val="102000"/>
              </a:lnSpc>
              <a:buNone/>
            </a:pPr>
            <a:r>
              <a:rPr lang="en-US" sz="1250" dirty="0">
                <a:solidFill>
                  <a:srgbClr val="6B7280"/>
                </a:solidFill>
                <a:latin typeface="Calibri" pitchFamily="34" charset="0"/>
                <a:ea typeface="Calibri" pitchFamily="34" charset="-122"/>
                <a:cs typeface="Calibri" pitchFamily="34" charset="-120"/>
              </a:rPr>
              <a:t>Priya, Hannah, and Andre hold all 23 flags. Find the cause and provide escalation support or reassign the truly unresponsive vendors.</a:t>
            </a:r>
            <a:endParaRPr lang="en-US" sz="1250" dirty="0"/>
          </a:p>
        </p:txBody>
      </p:sp>
      <p:sp>
        <p:nvSpPr>
          <p:cNvPr id="14" name="Shape 12"/>
          <p:cNvSpPr/>
          <p:nvPr/>
        </p:nvSpPr>
        <p:spPr>
          <a:xfrm>
            <a:off x="731520" y="3474720"/>
            <a:ext cx="457200" cy="457200"/>
          </a:xfrm>
          <a:prstGeom prst="ellipse">
            <a:avLst/>
          </a:prstGeom>
          <a:solidFill>
            <a:srgbClr val="12B67E"/>
          </a:solidFill>
          <a:ln/>
        </p:spPr>
        <p:txBody>
          <a:bodyPr/>
          <a:lstStyle/>
          <a:p>
            <a:endParaRPr lang="en-US"/>
          </a:p>
        </p:txBody>
      </p:sp>
      <p:sp>
        <p:nvSpPr>
          <p:cNvPr id="15" name="Text 13"/>
          <p:cNvSpPr txBox="1"/>
          <p:nvPr/>
        </p:nvSpPr>
        <p:spPr>
          <a:xfrm>
            <a:off x="731520" y="3474720"/>
            <a:ext cx="457200" cy="457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6" name="Text 14"/>
          <p:cNvSpPr txBox="1"/>
          <p:nvPr/>
        </p:nvSpPr>
        <p:spPr>
          <a:xfrm>
            <a:off x="1417320" y="3419856"/>
            <a:ext cx="10058400" cy="347472"/>
          </a:xfrm>
          <a:prstGeom prst="rect">
            <a:avLst/>
          </a:prstGeom>
          <a:noFill/>
          <a:ln/>
        </p:spPr>
        <p:txBody>
          <a:bodyPr wrap="square" lIns="0" tIns="0" rIns="0" bIns="0" rtlCol="0" anchor="ctr"/>
          <a:lstStyle/>
          <a:p>
            <a:pPr marL="0" indent="0">
              <a:buNone/>
            </a:pPr>
            <a:r>
              <a:rPr lang="en-US" sz="1550" b="1" dirty="0">
                <a:solidFill>
                  <a:srgbClr val="1A2433"/>
                </a:solidFill>
                <a:latin typeface="Calibri" pitchFamily="34" charset="0"/>
                <a:ea typeface="Calibri" pitchFamily="34" charset="-122"/>
                <a:cs typeface="Calibri" pitchFamily="34" charset="-120"/>
              </a:rPr>
              <a:t>Break the end-of-day bottleneck on Damon’s book</a:t>
            </a:r>
            <a:endParaRPr lang="en-US" sz="1550" dirty="0"/>
          </a:p>
        </p:txBody>
      </p:sp>
      <p:sp>
        <p:nvSpPr>
          <p:cNvPr id="17" name="Text 15"/>
          <p:cNvSpPr txBox="1"/>
          <p:nvPr/>
        </p:nvSpPr>
        <p:spPr>
          <a:xfrm>
            <a:off x="1417320" y="3767328"/>
            <a:ext cx="10104120" cy="530352"/>
          </a:xfrm>
          <a:prstGeom prst="rect">
            <a:avLst/>
          </a:prstGeom>
          <a:noFill/>
          <a:ln/>
        </p:spPr>
        <p:txBody>
          <a:bodyPr wrap="square" lIns="0" tIns="0" rIns="0" bIns="0" rtlCol="0" anchor="ctr"/>
          <a:lstStyle/>
          <a:p>
            <a:pPr marL="0" indent="0">
              <a:lnSpc>
                <a:spcPct val="102000"/>
              </a:lnSpc>
              <a:buNone/>
            </a:pPr>
            <a:r>
              <a:rPr lang="en-US" sz="1250" dirty="0">
                <a:solidFill>
                  <a:srgbClr val="6B7280"/>
                </a:solidFill>
                <a:latin typeface="Calibri" pitchFamily="34" charset="0"/>
                <a:ea typeface="Calibri" pitchFamily="34" charset="-122"/>
                <a:cs typeface="Calibri" pitchFamily="34" charset="-120"/>
              </a:rPr>
              <a:t>All 12 EOD delays are his. Reinforce or partially reassign so no hard deadline lapses on a single point of contact.</a:t>
            </a:r>
            <a:endParaRPr lang="en-US" sz="1250" dirty="0"/>
          </a:p>
        </p:txBody>
      </p:sp>
      <p:sp>
        <p:nvSpPr>
          <p:cNvPr id="18" name="Shape 16"/>
          <p:cNvSpPr/>
          <p:nvPr/>
        </p:nvSpPr>
        <p:spPr>
          <a:xfrm>
            <a:off x="731520" y="4407408"/>
            <a:ext cx="457200" cy="457200"/>
          </a:xfrm>
          <a:prstGeom prst="ellipse">
            <a:avLst/>
          </a:prstGeom>
          <a:solidFill>
            <a:srgbClr val="12B67E"/>
          </a:solidFill>
          <a:ln/>
        </p:spPr>
        <p:txBody>
          <a:bodyPr/>
          <a:lstStyle/>
          <a:p>
            <a:endParaRPr lang="en-US"/>
          </a:p>
        </p:txBody>
      </p:sp>
      <p:sp>
        <p:nvSpPr>
          <p:cNvPr id="19" name="Text 17"/>
          <p:cNvSpPr txBox="1"/>
          <p:nvPr/>
        </p:nvSpPr>
        <p:spPr>
          <a:xfrm>
            <a:off x="731520" y="4407408"/>
            <a:ext cx="457200" cy="457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0" name="Text 18"/>
          <p:cNvSpPr txBox="1"/>
          <p:nvPr/>
        </p:nvSpPr>
        <p:spPr>
          <a:xfrm>
            <a:off x="1417320" y="4352544"/>
            <a:ext cx="10058400" cy="347472"/>
          </a:xfrm>
          <a:prstGeom prst="rect">
            <a:avLst/>
          </a:prstGeom>
          <a:noFill/>
          <a:ln/>
        </p:spPr>
        <p:txBody>
          <a:bodyPr wrap="square" lIns="0" tIns="0" rIns="0" bIns="0" rtlCol="0" anchor="ctr"/>
          <a:lstStyle/>
          <a:p>
            <a:pPr marL="0" indent="0">
              <a:buNone/>
            </a:pPr>
            <a:r>
              <a:rPr lang="en-US" sz="1550" b="1" dirty="0">
                <a:solidFill>
                  <a:srgbClr val="1A2433"/>
                </a:solidFill>
                <a:latin typeface="Calibri" pitchFamily="34" charset="0"/>
                <a:ea typeface="Calibri" pitchFamily="34" charset="-122"/>
                <a:cs typeface="Calibri" pitchFamily="34" charset="-120"/>
              </a:rPr>
              <a:t>Convert Yuki’s received backlog for a cheap completion bump</a:t>
            </a:r>
            <a:endParaRPr lang="en-US" sz="1550" dirty="0"/>
          </a:p>
        </p:txBody>
      </p:sp>
      <p:sp>
        <p:nvSpPr>
          <p:cNvPr id="21" name="Text 19"/>
          <p:cNvSpPr txBox="1"/>
          <p:nvPr/>
        </p:nvSpPr>
        <p:spPr>
          <a:xfrm>
            <a:off x="1417320" y="4700016"/>
            <a:ext cx="10104120" cy="530352"/>
          </a:xfrm>
          <a:prstGeom prst="rect">
            <a:avLst/>
          </a:prstGeom>
          <a:noFill/>
          <a:ln/>
        </p:spPr>
        <p:txBody>
          <a:bodyPr wrap="square" lIns="0" tIns="0" rIns="0" bIns="0" rtlCol="0" anchor="ctr"/>
          <a:lstStyle/>
          <a:p>
            <a:pPr marL="0" indent="0">
              <a:lnSpc>
                <a:spcPct val="102000"/>
              </a:lnSpc>
              <a:buNone/>
            </a:pPr>
            <a:r>
              <a:rPr lang="en-US" sz="1250" dirty="0">
                <a:solidFill>
                  <a:srgbClr val="6B7280"/>
                </a:solidFill>
                <a:latin typeface="Calibri" pitchFamily="34" charset="0"/>
                <a:ea typeface="Calibri" pitchFamily="34" charset="-122"/>
                <a:cs typeface="Calibri" pitchFamily="34" charset="-120"/>
              </a:rPr>
              <a:t>Low criticality, high volume, mid-process. A focused documentation push raises the overall rate quickly and safely.</a:t>
            </a:r>
            <a:endParaRPr lang="en-US" sz="1250" dirty="0"/>
          </a:p>
        </p:txBody>
      </p:sp>
      <p:sp>
        <p:nvSpPr>
          <p:cNvPr id="22" name="Shape 20"/>
          <p:cNvSpPr/>
          <p:nvPr/>
        </p:nvSpPr>
        <p:spPr>
          <a:xfrm>
            <a:off x="731520" y="5340096"/>
            <a:ext cx="457200" cy="457200"/>
          </a:xfrm>
          <a:prstGeom prst="ellipse">
            <a:avLst/>
          </a:prstGeom>
          <a:solidFill>
            <a:srgbClr val="12B67E"/>
          </a:solidFill>
          <a:ln/>
        </p:spPr>
        <p:txBody>
          <a:bodyPr/>
          <a:lstStyle/>
          <a:p>
            <a:endParaRPr lang="en-US"/>
          </a:p>
        </p:txBody>
      </p:sp>
      <p:sp>
        <p:nvSpPr>
          <p:cNvPr id="23" name="Text 21"/>
          <p:cNvSpPr txBox="1"/>
          <p:nvPr/>
        </p:nvSpPr>
        <p:spPr>
          <a:xfrm>
            <a:off x="731520" y="5340096"/>
            <a:ext cx="457200" cy="457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4" name="Text 22"/>
          <p:cNvSpPr txBox="1"/>
          <p:nvPr/>
        </p:nvSpPr>
        <p:spPr>
          <a:xfrm>
            <a:off x="1417320" y="5285232"/>
            <a:ext cx="10058400" cy="347472"/>
          </a:xfrm>
          <a:prstGeom prst="rect">
            <a:avLst/>
          </a:prstGeom>
          <a:noFill/>
          <a:ln/>
        </p:spPr>
        <p:txBody>
          <a:bodyPr wrap="square" lIns="0" tIns="0" rIns="0" bIns="0" rtlCol="0" anchor="ctr"/>
          <a:lstStyle/>
          <a:p>
            <a:pPr marL="0" indent="0">
              <a:buNone/>
            </a:pPr>
            <a:r>
              <a:rPr lang="en-US" sz="1550" b="1" dirty="0">
                <a:solidFill>
                  <a:srgbClr val="1A2433"/>
                </a:solidFill>
                <a:latin typeface="Calibri" pitchFamily="34" charset="0"/>
                <a:ea typeface="Calibri" pitchFamily="34" charset="-122"/>
                <a:cs typeface="Calibri" pitchFamily="34" charset="-120"/>
              </a:rPr>
              <a:t>Codify what Marisol and Trevor do</a:t>
            </a:r>
            <a:endParaRPr lang="en-US" sz="1550" dirty="0"/>
          </a:p>
        </p:txBody>
      </p:sp>
      <p:sp>
        <p:nvSpPr>
          <p:cNvPr id="25" name="Text 23"/>
          <p:cNvSpPr txBox="1"/>
          <p:nvPr/>
        </p:nvSpPr>
        <p:spPr>
          <a:xfrm>
            <a:off x="1417320" y="5632704"/>
            <a:ext cx="10104120" cy="530352"/>
          </a:xfrm>
          <a:prstGeom prst="rect">
            <a:avLst/>
          </a:prstGeom>
          <a:noFill/>
          <a:ln/>
        </p:spPr>
        <p:txBody>
          <a:bodyPr wrap="square" lIns="0" tIns="0" rIns="0" bIns="0" rtlCol="0" anchor="ctr"/>
          <a:lstStyle/>
          <a:p>
            <a:pPr marL="0" indent="0">
              <a:lnSpc>
                <a:spcPct val="102000"/>
              </a:lnSpc>
              <a:buNone/>
            </a:pPr>
            <a:r>
              <a:rPr lang="en-US" sz="1250" dirty="0">
                <a:solidFill>
                  <a:srgbClr val="6B7280"/>
                </a:solidFill>
                <a:latin typeface="Calibri" pitchFamily="34" charset="0"/>
                <a:ea typeface="Calibri" pitchFamily="34" charset="-122"/>
                <a:cs typeface="Calibri" pitchFamily="34" charset="-120"/>
              </a:rPr>
              <a:t>The two best performers carry the hardest books. Capture their approach as the standard operating procedure and lift the middle of the pack.</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2138"/>
        </a:solidFill>
        <a:effectLst/>
      </p:bgPr>
    </p:bg>
    <p:spTree>
      <p:nvGrpSpPr>
        <p:cNvPr id="1" name=""/>
        <p:cNvGrpSpPr/>
        <p:nvPr/>
      </p:nvGrpSpPr>
      <p:grpSpPr>
        <a:xfrm>
          <a:off x="0" y="0"/>
          <a:ext cx="0" cy="0"/>
          <a:chOff x="0" y="0"/>
          <a:chExt cx="0" cy="0"/>
        </a:xfrm>
      </p:grpSpPr>
      <p:sp>
        <p:nvSpPr>
          <p:cNvPr id="2" name="Text 0"/>
          <p:cNvSpPr txBox="1"/>
          <p:nvPr/>
        </p:nvSpPr>
        <p:spPr>
          <a:xfrm>
            <a:off x="822960" y="2011680"/>
            <a:ext cx="5486400" cy="1097280"/>
          </a:xfrm>
          <a:prstGeom prst="rect">
            <a:avLst/>
          </a:prstGeom>
          <a:noFill/>
          <a:ln/>
        </p:spPr>
        <p:txBody>
          <a:bodyPr wrap="square" lIns="0" tIns="0" rIns="0" bIns="0" rtlCol="0" anchor="ctr"/>
          <a:lstStyle/>
          <a:p>
            <a:pPr marL="0" indent="0">
              <a:buNone/>
            </a:pPr>
            <a:r>
              <a:rPr lang="en-US" sz="6000" b="1" dirty="0">
                <a:solidFill>
                  <a:srgbClr val="12B67E"/>
                </a:solidFill>
                <a:latin typeface="Calibri" pitchFamily="34" charset="0"/>
                <a:ea typeface="Calibri" pitchFamily="34" charset="-122"/>
                <a:cs typeface="Calibri" pitchFamily="34" charset="-120"/>
              </a:rPr>
              <a:t>Part 2</a:t>
            </a:r>
            <a:endParaRPr lang="en-US" sz="6000" dirty="0"/>
          </a:p>
        </p:txBody>
      </p:sp>
      <p:sp>
        <p:nvSpPr>
          <p:cNvPr id="3" name="Text 1"/>
          <p:cNvSpPr txBox="1"/>
          <p:nvPr/>
        </p:nvSpPr>
        <p:spPr>
          <a:xfrm>
            <a:off x="841248" y="3063240"/>
            <a:ext cx="10515600" cy="82296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How It Was Built</a:t>
            </a:r>
            <a:endParaRPr lang="en-US" sz="3800" dirty="0"/>
          </a:p>
        </p:txBody>
      </p:sp>
      <p:sp>
        <p:nvSpPr>
          <p:cNvPr id="4" name="Text 2"/>
          <p:cNvSpPr txBox="1"/>
          <p:nvPr/>
        </p:nvSpPr>
        <p:spPr>
          <a:xfrm>
            <a:off x="859536" y="3950208"/>
            <a:ext cx="10424160" cy="731520"/>
          </a:xfrm>
          <a:prstGeom prst="rect">
            <a:avLst/>
          </a:prstGeom>
          <a:noFill/>
          <a:ln/>
        </p:spPr>
        <p:txBody>
          <a:bodyPr wrap="square" lIns="0" tIns="0" rIns="0" bIns="0" rtlCol="0" anchor="ctr"/>
          <a:lstStyle/>
          <a:p>
            <a:pPr marL="0" indent="0">
              <a:lnSpc>
                <a:spcPct val="105000"/>
              </a:lnSpc>
              <a:buNone/>
            </a:pPr>
            <a:r>
              <a:rPr lang="en-US" sz="1800" dirty="0">
                <a:solidFill>
                  <a:srgbClr val="8FE3C4"/>
                </a:solidFill>
                <a:latin typeface="Calibri" pitchFamily="34" charset="0"/>
                <a:ea typeface="Calibri" pitchFamily="34" charset="-122"/>
                <a:cs typeface="Calibri" pitchFamily="34" charset="-120"/>
              </a:rPr>
              <a:t>A fully live formula engine. The moment a coordinator updates a vendor, every number and chart re-ranks itself. Nothing is hardcoded.</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12B67E"/>
          </a:solidFill>
          <a:ln/>
        </p:spPr>
        <p:txBody>
          <a:bodyPr/>
          <a:lstStyle/>
          <a:p>
            <a:endParaRPr lang="en-US"/>
          </a:p>
        </p:txBody>
      </p:sp>
      <p:sp>
        <p:nvSpPr>
          <p:cNvPr id="3" name="Text 1"/>
          <p:cNvSpPr txBox="1"/>
          <p:nvPr/>
        </p:nvSpPr>
        <p:spPr>
          <a:xfrm>
            <a:off x="640080" y="457200"/>
            <a:ext cx="566928" cy="566928"/>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E1</a:t>
            </a:r>
            <a:endParaRPr lang="en-US" sz="1700" dirty="0"/>
          </a:p>
        </p:txBody>
      </p:sp>
      <p:sp>
        <p:nvSpPr>
          <p:cNvPr id="4" name="Text 2"/>
          <p:cNvSpPr txBox="1"/>
          <p:nvPr/>
        </p:nvSpPr>
        <p:spPr>
          <a:xfrm>
            <a:off x="1371600" y="457200"/>
            <a:ext cx="10149840" cy="274320"/>
          </a:xfrm>
          <a:prstGeom prst="rect">
            <a:avLst/>
          </a:prstGeom>
          <a:noFill/>
          <a:ln/>
        </p:spPr>
        <p:txBody>
          <a:bodyPr wrap="square" lIns="0" tIns="0" rIns="0" bIns="0" rtlCol="0" anchor="ctr"/>
          <a:lstStyle/>
          <a:p>
            <a:pPr marL="0" indent="0">
              <a:buNone/>
            </a:pPr>
            <a:r>
              <a:rPr lang="en-US" sz="1200" b="1" kern="0" spc="200" dirty="0">
                <a:solidFill>
                  <a:srgbClr val="0E8F63"/>
                </a:solidFill>
                <a:latin typeface="Calibri" pitchFamily="34" charset="0"/>
                <a:ea typeface="Calibri" pitchFamily="34" charset="-122"/>
                <a:cs typeface="Calibri" pitchFamily="34" charset="-120"/>
              </a:rPr>
              <a:t>THE ENGINE · STEP 1 OF 6</a:t>
            </a:r>
            <a:endParaRPr lang="en-US" sz="1200" dirty="0"/>
          </a:p>
        </p:txBody>
      </p:sp>
      <p:sp>
        <p:nvSpPr>
          <p:cNvPr id="5" name="Text 3"/>
          <p:cNvSpPr txBox="1"/>
          <p:nvPr/>
        </p:nvSpPr>
        <p:spPr>
          <a:xfrm>
            <a:off x="1371600" y="713232"/>
            <a:ext cx="10241280" cy="548640"/>
          </a:xfrm>
          <a:prstGeom prst="rect">
            <a:avLst/>
          </a:prstGeom>
          <a:noFill/>
          <a:ln/>
        </p:spPr>
        <p:txBody>
          <a:bodyPr wrap="square" lIns="0" tIns="0" rIns="0" bIns="0" rtlCol="0" anchor="ctr"/>
          <a:lstStyle/>
          <a:p>
            <a:pPr marL="0" indent="0">
              <a:buNone/>
            </a:pPr>
            <a:r>
              <a:rPr lang="en-US" sz="2600" b="1" dirty="0">
                <a:solidFill>
                  <a:srgbClr val="1A2433"/>
                </a:solidFill>
                <a:latin typeface="Calibri" pitchFamily="34" charset="0"/>
                <a:ea typeface="Calibri" pitchFamily="34" charset="-122"/>
                <a:cs typeface="Calibri" pitchFamily="34" charset="-120"/>
              </a:rPr>
              <a:t>Roll up every coordinator’s notes into one sheet</a:t>
            </a:r>
            <a:endParaRPr lang="en-US" sz="2600" dirty="0"/>
          </a:p>
        </p:txBody>
      </p:sp>
      <p:sp>
        <p:nvSpPr>
          <p:cNvPr id="6" name="Shape 4"/>
          <p:cNvSpPr/>
          <p:nvPr/>
        </p:nvSpPr>
        <p:spPr>
          <a:xfrm>
            <a:off x="1978877" y="1426464"/>
            <a:ext cx="8231197" cy="3364992"/>
          </a:xfrm>
          <a:prstGeom prst="roundRect">
            <a:avLst>
              <a:gd name="adj" fmla="val 1630"/>
            </a:avLst>
          </a:prstGeom>
          <a:solidFill>
            <a:srgbClr val="FFFFFF"/>
          </a:solidFill>
          <a:ln w="12700">
            <a:solidFill>
              <a:srgbClr val="D9DEE5"/>
            </a:solidFill>
            <a:prstDash val="solid"/>
          </a:ln>
          <a:effectLst>
            <a:outerShdw blurRad="114300" dist="38100" dir="5400000" algn="bl" rotWithShape="0">
              <a:srgbClr val="9AA5B1">
                <a:alpha val="35000"/>
              </a:srgbClr>
            </a:outerShdw>
          </a:effectLst>
        </p:spPr>
        <p:txBody>
          <a:bodyPr/>
          <a:lstStyle/>
          <a:p>
            <a:endParaRPr lang="en-US"/>
          </a:p>
        </p:txBody>
      </p:sp>
      <p:pic>
        <p:nvPicPr>
          <p:cNvPr id="7" name="Image 0" descr="arena_shots/eng1_commnotes.png"/>
          <p:cNvPicPr>
            <a:picLocks noChangeAspect="1"/>
          </p:cNvPicPr>
          <p:nvPr/>
        </p:nvPicPr>
        <p:blipFill>
          <a:blip r:embed="rId3"/>
          <a:stretch>
            <a:fillRect/>
          </a:stretch>
        </p:blipFill>
        <p:spPr>
          <a:xfrm>
            <a:off x="2061173" y="1508760"/>
            <a:ext cx="8066605" cy="3200400"/>
          </a:xfrm>
          <a:prstGeom prst="rect">
            <a:avLst/>
          </a:prstGeom>
        </p:spPr>
      </p:pic>
      <p:sp>
        <p:nvSpPr>
          <p:cNvPr id="8" name="Shape 5"/>
          <p:cNvSpPr/>
          <p:nvPr/>
        </p:nvSpPr>
        <p:spPr>
          <a:xfrm>
            <a:off x="640080" y="5029200"/>
            <a:ext cx="10908792" cy="1325880"/>
          </a:xfrm>
          <a:prstGeom prst="roundRect">
            <a:avLst>
              <a:gd name="adj" fmla="val 5517"/>
            </a:avLst>
          </a:prstGeom>
          <a:solidFill>
            <a:srgbClr val="EAF7F1"/>
          </a:solidFill>
          <a:ln w="12700">
            <a:solidFill>
              <a:srgbClr val="CDEBDD"/>
            </a:solidFill>
            <a:prstDash val="solid"/>
          </a:ln>
        </p:spPr>
        <p:txBody>
          <a:bodyPr/>
          <a:lstStyle/>
          <a:p>
            <a:endParaRPr lang="en-US"/>
          </a:p>
        </p:txBody>
      </p:sp>
      <p:sp>
        <p:nvSpPr>
          <p:cNvPr id="9" name="Text 6"/>
          <p:cNvSpPr txBox="1"/>
          <p:nvPr/>
        </p:nvSpPr>
        <p:spPr>
          <a:xfrm>
            <a:off x="914400" y="5175504"/>
            <a:ext cx="2743200" cy="274320"/>
          </a:xfrm>
          <a:prstGeom prst="rect">
            <a:avLst/>
          </a:prstGeom>
          <a:noFill/>
          <a:ln/>
        </p:spPr>
        <p:txBody>
          <a:bodyPr wrap="square" lIns="0" tIns="0" rIns="0" bIns="0" rtlCol="0" anchor="ctr"/>
          <a:lstStyle/>
          <a:p>
            <a:pPr marL="0" indent="0">
              <a:buNone/>
            </a:pPr>
            <a:r>
              <a:rPr lang="en-US" sz="1200" b="1" kern="0" spc="200" dirty="0">
                <a:solidFill>
                  <a:srgbClr val="0E8F63"/>
                </a:solidFill>
                <a:latin typeface="Calibri" pitchFamily="34" charset="0"/>
                <a:ea typeface="Calibri" pitchFamily="34" charset="-122"/>
                <a:cs typeface="Calibri" pitchFamily="34" charset="-120"/>
              </a:rPr>
              <a:t>TAKEAWAY</a:t>
            </a:r>
            <a:endParaRPr lang="en-US" sz="1200" dirty="0"/>
          </a:p>
        </p:txBody>
      </p:sp>
      <p:sp>
        <p:nvSpPr>
          <p:cNvPr id="10" name="Text 7"/>
          <p:cNvSpPr txBox="1"/>
          <p:nvPr/>
        </p:nvSpPr>
        <p:spPr>
          <a:xfrm>
            <a:off x="914400" y="5449824"/>
            <a:ext cx="10378440" cy="822960"/>
          </a:xfrm>
          <a:prstGeom prst="rect">
            <a:avLst/>
          </a:prstGeom>
          <a:noFill/>
          <a:ln/>
        </p:spPr>
        <p:txBody>
          <a:bodyPr wrap="square" lIns="0" tIns="0" rIns="0" bIns="0" rtlCol="0" anchor="ctr"/>
          <a:lstStyle/>
          <a:p>
            <a:pPr marL="0" indent="0">
              <a:lnSpc>
                <a:spcPct val="104000"/>
              </a:lnSpc>
              <a:buNone/>
            </a:pPr>
            <a:r>
              <a:rPr lang="en-US" sz="1450" dirty="0">
                <a:solidFill>
                  <a:srgbClr val="1A2433"/>
                </a:solidFill>
                <a:latin typeface="Calibri" pitchFamily="34" charset="0"/>
                <a:ea typeface="Calibri" pitchFamily="34" charset="-122"/>
                <a:cs typeface="Calibri" pitchFamily="34" charset="-120"/>
              </a:rPr>
              <a:t>XLOOKUP finds each vendor by Company ID, and INDIRECT builds the sheet reference from the coordinator’s name (“’”&amp;[@Coordinator]&amp;“’!$J:$J”). One formula reads the right column on the right tab, so all seven coordinator sheets feed the central Assignments engine automatically.</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12B67E"/>
          </a:solidFill>
          <a:ln/>
        </p:spPr>
        <p:txBody>
          <a:bodyPr/>
          <a:lstStyle/>
          <a:p>
            <a:endParaRPr lang="en-US"/>
          </a:p>
        </p:txBody>
      </p:sp>
      <p:sp>
        <p:nvSpPr>
          <p:cNvPr id="3" name="Text 1"/>
          <p:cNvSpPr txBox="1"/>
          <p:nvPr/>
        </p:nvSpPr>
        <p:spPr>
          <a:xfrm>
            <a:off x="640080" y="457200"/>
            <a:ext cx="566928" cy="566928"/>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E2</a:t>
            </a:r>
            <a:endParaRPr lang="en-US" sz="1700" dirty="0"/>
          </a:p>
        </p:txBody>
      </p:sp>
      <p:sp>
        <p:nvSpPr>
          <p:cNvPr id="4" name="Text 2"/>
          <p:cNvSpPr txBox="1"/>
          <p:nvPr/>
        </p:nvSpPr>
        <p:spPr>
          <a:xfrm>
            <a:off x="1371600" y="457200"/>
            <a:ext cx="10149840" cy="274320"/>
          </a:xfrm>
          <a:prstGeom prst="rect">
            <a:avLst/>
          </a:prstGeom>
          <a:noFill/>
          <a:ln/>
        </p:spPr>
        <p:txBody>
          <a:bodyPr wrap="square" lIns="0" tIns="0" rIns="0" bIns="0" rtlCol="0" anchor="ctr"/>
          <a:lstStyle/>
          <a:p>
            <a:pPr marL="0" indent="0">
              <a:buNone/>
            </a:pPr>
            <a:r>
              <a:rPr lang="en-US" sz="1200" b="1" kern="0" spc="200" dirty="0">
                <a:solidFill>
                  <a:srgbClr val="0E8F63"/>
                </a:solidFill>
                <a:latin typeface="Calibri" pitchFamily="34" charset="0"/>
                <a:ea typeface="Calibri" pitchFamily="34" charset="-122"/>
                <a:cs typeface="Calibri" pitchFamily="34" charset="-120"/>
              </a:rPr>
              <a:t>THE ENGINE · STEP 2 OF 6</a:t>
            </a:r>
            <a:endParaRPr lang="en-US" sz="1200" dirty="0"/>
          </a:p>
        </p:txBody>
      </p:sp>
      <p:sp>
        <p:nvSpPr>
          <p:cNvPr id="5" name="Text 3"/>
          <p:cNvSpPr txBox="1"/>
          <p:nvPr/>
        </p:nvSpPr>
        <p:spPr>
          <a:xfrm>
            <a:off x="1371600" y="713232"/>
            <a:ext cx="10241280" cy="548640"/>
          </a:xfrm>
          <a:prstGeom prst="rect">
            <a:avLst/>
          </a:prstGeom>
          <a:noFill/>
          <a:ln/>
        </p:spPr>
        <p:txBody>
          <a:bodyPr wrap="square" lIns="0" tIns="0" rIns="0" bIns="0" rtlCol="0" anchor="ctr"/>
          <a:lstStyle/>
          <a:p>
            <a:pPr marL="0" indent="0">
              <a:buNone/>
            </a:pPr>
            <a:r>
              <a:rPr lang="en-US" sz="2600" b="1" dirty="0">
                <a:solidFill>
                  <a:srgbClr val="1A2433"/>
                </a:solidFill>
                <a:latin typeface="Calibri" pitchFamily="34" charset="0"/>
                <a:ea typeface="Calibri" pitchFamily="34" charset="-122"/>
                <a:cs typeface="Calibri" pitchFamily="34" charset="-120"/>
              </a:rPr>
              <a:t>The same pattern rolls up onboarding Status</a:t>
            </a:r>
            <a:endParaRPr lang="en-US" sz="2600" dirty="0"/>
          </a:p>
        </p:txBody>
      </p:sp>
      <p:sp>
        <p:nvSpPr>
          <p:cNvPr id="6" name="Shape 4"/>
          <p:cNvSpPr/>
          <p:nvPr/>
        </p:nvSpPr>
        <p:spPr>
          <a:xfrm>
            <a:off x="1813074" y="1426464"/>
            <a:ext cx="8562805" cy="3364992"/>
          </a:xfrm>
          <a:prstGeom prst="roundRect">
            <a:avLst>
              <a:gd name="adj" fmla="val 1630"/>
            </a:avLst>
          </a:prstGeom>
          <a:solidFill>
            <a:srgbClr val="FFFFFF"/>
          </a:solidFill>
          <a:ln w="12700">
            <a:solidFill>
              <a:srgbClr val="D9DEE5"/>
            </a:solidFill>
            <a:prstDash val="solid"/>
          </a:ln>
          <a:effectLst>
            <a:outerShdw blurRad="114300" dist="38100" dir="5400000" algn="bl" rotWithShape="0">
              <a:srgbClr val="9AA5B1">
                <a:alpha val="35000"/>
              </a:srgbClr>
            </a:outerShdw>
          </a:effectLst>
        </p:spPr>
        <p:txBody>
          <a:bodyPr/>
          <a:lstStyle/>
          <a:p>
            <a:endParaRPr lang="en-US"/>
          </a:p>
        </p:txBody>
      </p:sp>
      <p:pic>
        <p:nvPicPr>
          <p:cNvPr id="7" name="Image 0" descr="arena_shots/eng2_status.png"/>
          <p:cNvPicPr>
            <a:picLocks noChangeAspect="1"/>
          </p:cNvPicPr>
          <p:nvPr/>
        </p:nvPicPr>
        <p:blipFill>
          <a:blip r:embed="rId3"/>
          <a:stretch>
            <a:fillRect/>
          </a:stretch>
        </p:blipFill>
        <p:spPr>
          <a:xfrm>
            <a:off x="1895370" y="1508760"/>
            <a:ext cx="8398213" cy="3200400"/>
          </a:xfrm>
          <a:prstGeom prst="rect">
            <a:avLst/>
          </a:prstGeom>
        </p:spPr>
      </p:pic>
      <p:sp>
        <p:nvSpPr>
          <p:cNvPr id="8" name="Shape 5"/>
          <p:cNvSpPr/>
          <p:nvPr/>
        </p:nvSpPr>
        <p:spPr>
          <a:xfrm>
            <a:off x="640080" y="5029200"/>
            <a:ext cx="10908792" cy="1325880"/>
          </a:xfrm>
          <a:prstGeom prst="roundRect">
            <a:avLst>
              <a:gd name="adj" fmla="val 5517"/>
            </a:avLst>
          </a:prstGeom>
          <a:solidFill>
            <a:srgbClr val="EAF7F1"/>
          </a:solidFill>
          <a:ln w="12700">
            <a:solidFill>
              <a:srgbClr val="CDEBDD"/>
            </a:solidFill>
            <a:prstDash val="solid"/>
          </a:ln>
        </p:spPr>
        <p:txBody>
          <a:bodyPr/>
          <a:lstStyle/>
          <a:p>
            <a:endParaRPr lang="en-US"/>
          </a:p>
        </p:txBody>
      </p:sp>
      <p:sp>
        <p:nvSpPr>
          <p:cNvPr id="9" name="Text 6"/>
          <p:cNvSpPr txBox="1"/>
          <p:nvPr/>
        </p:nvSpPr>
        <p:spPr>
          <a:xfrm>
            <a:off x="914400" y="5175504"/>
            <a:ext cx="2743200" cy="274320"/>
          </a:xfrm>
          <a:prstGeom prst="rect">
            <a:avLst/>
          </a:prstGeom>
          <a:noFill/>
          <a:ln/>
        </p:spPr>
        <p:txBody>
          <a:bodyPr wrap="square" lIns="0" tIns="0" rIns="0" bIns="0" rtlCol="0" anchor="ctr"/>
          <a:lstStyle/>
          <a:p>
            <a:pPr marL="0" indent="0">
              <a:buNone/>
            </a:pPr>
            <a:r>
              <a:rPr lang="en-US" sz="1200" b="1" kern="0" spc="200" dirty="0">
                <a:solidFill>
                  <a:srgbClr val="0E8F63"/>
                </a:solidFill>
                <a:latin typeface="Calibri" pitchFamily="34" charset="0"/>
                <a:ea typeface="Calibri" pitchFamily="34" charset="-122"/>
                <a:cs typeface="Calibri" pitchFamily="34" charset="-120"/>
              </a:rPr>
              <a:t>TAKEAWAY</a:t>
            </a:r>
            <a:endParaRPr lang="en-US" sz="1200" dirty="0"/>
          </a:p>
        </p:txBody>
      </p:sp>
      <p:sp>
        <p:nvSpPr>
          <p:cNvPr id="10" name="Text 7"/>
          <p:cNvSpPr txBox="1"/>
          <p:nvPr/>
        </p:nvSpPr>
        <p:spPr>
          <a:xfrm>
            <a:off x="914400" y="5449824"/>
            <a:ext cx="10378440" cy="822960"/>
          </a:xfrm>
          <a:prstGeom prst="rect">
            <a:avLst/>
          </a:prstGeom>
          <a:noFill/>
          <a:ln/>
        </p:spPr>
        <p:txBody>
          <a:bodyPr wrap="square" lIns="0" tIns="0" rIns="0" bIns="0" rtlCol="0" anchor="ctr"/>
          <a:lstStyle/>
          <a:p>
            <a:pPr marL="0" indent="0">
              <a:lnSpc>
                <a:spcPct val="104000"/>
              </a:lnSpc>
              <a:buNone/>
            </a:pPr>
            <a:r>
              <a:rPr lang="en-US" sz="1450" dirty="0">
                <a:solidFill>
                  <a:srgbClr val="1A2433"/>
                </a:solidFill>
                <a:latin typeface="Calibri" pitchFamily="34" charset="0"/>
                <a:ea typeface="Calibri" pitchFamily="34" charset="-122"/>
                <a:cs typeface="Calibri" pitchFamily="34" charset="-120"/>
              </a:rPr>
              <a:t>Identical XLOOKUP + INDIRECT, pointed at the Status column ($K:$K). Because the sheet reference is built from the Coordinator field, adding or renaming a coordinator tab needs no formula edits, the roll-up just follows the name.</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12B67E"/>
          </a:solidFill>
          <a:ln/>
        </p:spPr>
        <p:txBody>
          <a:bodyPr/>
          <a:lstStyle/>
          <a:p>
            <a:endParaRPr lang="en-US"/>
          </a:p>
        </p:txBody>
      </p:sp>
      <p:sp>
        <p:nvSpPr>
          <p:cNvPr id="3" name="Text 1"/>
          <p:cNvSpPr txBox="1"/>
          <p:nvPr/>
        </p:nvSpPr>
        <p:spPr>
          <a:xfrm>
            <a:off x="640080" y="457200"/>
            <a:ext cx="566928" cy="566928"/>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E3</a:t>
            </a:r>
            <a:endParaRPr lang="en-US" sz="1700" dirty="0"/>
          </a:p>
        </p:txBody>
      </p:sp>
      <p:sp>
        <p:nvSpPr>
          <p:cNvPr id="4" name="Text 2"/>
          <p:cNvSpPr txBox="1"/>
          <p:nvPr/>
        </p:nvSpPr>
        <p:spPr>
          <a:xfrm>
            <a:off x="1371600" y="457200"/>
            <a:ext cx="10149840" cy="274320"/>
          </a:xfrm>
          <a:prstGeom prst="rect">
            <a:avLst/>
          </a:prstGeom>
          <a:noFill/>
          <a:ln/>
        </p:spPr>
        <p:txBody>
          <a:bodyPr wrap="square" lIns="0" tIns="0" rIns="0" bIns="0" rtlCol="0" anchor="ctr"/>
          <a:lstStyle/>
          <a:p>
            <a:pPr marL="0" indent="0">
              <a:buNone/>
            </a:pPr>
            <a:r>
              <a:rPr lang="en-US" sz="1200" b="1" kern="0" spc="200" dirty="0">
                <a:solidFill>
                  <a:srgbClr val="0E8F63"/>
                </a:solidFill>
                <a:latin typeface="Calibri" pitchFamily="34" charset="0"/>
                <a:ea typeface="Calibri" pitchFamily="34" charset="-122"/>
                <a:cs typeface="Calibri" pitchFamily="34" charset="-120"/>
              </a:rPr>
              <a:t>THE ENGINE · STEP 3 OF 6</a:t>
            </a:r>
            <a:endParaRPr lang="en-US" sz="1200" dirty="0"/>
          </a:p>
        </p:txBody>
      </p:sp>
      <p:sp>
        <p:nvSpPr>
          <p:cNvPr id="5" name="Text 3"/>
          <p:cNvSpPr txBox="1"/>
          <p:nvPr/>
        </p:nvSpPr>
        <p:spPr>
          <a:xfrm>
            <a:off x="1371600" y="713232"/>
            <a:ext cx="10241280" cy="548640"/>
          </a:xfrm>
          <a:prstGeom prst="rect">
            <a:avLst/>
          </a:prstGeom>
          <a:noFill/>
          <a:ln/>
        </p:spPr>
        <p:txBody>
          <a:bodyPr wrap="square" lIns="0" tIns="0" rIns="0" bIns="0" rtlCol="0" anchor="ctr"/>
          <a:lstStyle/>
          <a:p>
            <a:pPr marL="0" indent="0">
              <a:buNone/>
            </a:pPr>
            <a:r>
              <a:rPr lang="en-US" sz="2600" b="1" dirty="0">
                <a:solidFill>
                  <a:srgbClr val="1A2433"/>
                </a:solidFill>
                <a:latin typeface="Calibri" pitchFamily="34" charset="0"/>
                <a:ea typeface="Calibri" pitchFamily="34" charset="-122"/>
                <a:cs typeface="Calibri" pitchFamily="34" charset="-120"/>
              </a:rPr>
              <a:t>And rolls up Onboard Success the same way</a:t>
            </a:r>
            <a:endParaRPr lang="en-US" sz="2600" dirty="0"/>
          </a:p>
        </p:txBody>
      </p:sp>
      <p:sp>
        <p:nvSpPr>
          <p:cNvPr id="6" name="Shape 4"/>
          <p:cNvSpPr/>
          <p:nvPr/>
        </p:nvSpPr>
        <p:spPr>
          <a:xfrm>
            <a:off x="1479239" y="1426464"/>
            <a:ext cx="9230473" cy="3364992"/>
          </a:xfrm>
          <a:prstGeom prst="roundRect">
            <a:avLst>
              <a:gd name="adj" fmla="val 1630"/>
            </a:avLst>
          </a:prstGeom>
          <a:solidFill>
            <a:srgbClr val="FFFFFF"/>
          </a:solidFill>
          <a:ln w="12700">
            <a:solidFill>
              <a:srgbClr val="D9DEE5"/>
            </a:solidFill>
            <a:prstDash val="solid"/>
          </a:ln>
          <a:effectLst>
            <a:outerShdw blurRad="114300" dist="38100" dir="5400000" algn="bl" rotWithShape="0">
              <a:srgbClr val="9AA5B1">
                <a:alpha val="35000"/>
              </a:srgbClr>
            </a:outerShdw>
          </a:effectLst>
        </p:spPr>
        <p:txBody>
          <a:bodyPr/>
          <a:lstStyle/>
          <a:p>
            <a:endParaRPr lang="en-US"/>
          </a:p>
        </p:txBody>
      </p:sp>
      <p:pic>
        <p:nvPicPr>
          <p:cNvPr id="7" name="Image 0" descr="arena_shots/eng3_success.png"/>
          <p:cNvPicPr>
            <a:picLocks noChangeAspect="1"/>
          </p:cNvPicPr>
          <p:nvPr/>
        </p:nvPicPr>
        <p:blipFill>
          <a:blip r:embed="rId3"/>
          <a:stretch>
            <a:fillRect/>
          </a:stretch>
        </p:blipFill>
        <p:spPr>
          <a:xfrm>
            <a:off x="1561535" y="1508760"/>
            <a:ext cx="9065881" cy="3200400"/>
          </a:xfrm>
          <a:prstGeom prst="rect">
            <a:avLst/>
          </a:prstGeom>
        </p:spPr>
      </p:pic>
      <p:sp>
        <p:nvSpPr>
          <p:cNvPr id="8" name="Shape 5"/>
          <p:cNvSpPr/>
          <p:nvPr/>
        </p:nvSpPr>
        <p:spPr>
          <a:xfrm>
            <a:off x="640080" y="5029200"/>
            <a:ext cx="10908792" cy="1325880"/>
          </a:xfrm>
          <a:prstGeom prst="roundRect">
            <a:avLst>
              <a:gd name="adj" fmla="val 5517"/>
            </a:avLst>
          </a:prstGeom>
          <a:solidFill>
            <a:srgbClr val="EAF7F1"/>
          </a:solidFill>
          <a:ln w="12700">
            <a:solidFill>
              <a:srgbClr val="CDEBDD"/>
            </a:solidFill>
            <a:prstDash val="solid"/>
          </a:ln>
        </p:spPr>
        <p:txBody>
          <a:bodyPr/>
          <a:lstStyle/>
          <a:p>
            <a:endParaRPr lang="en-US"/>
          </a:p>
        </p:txBody>
      </p:sp>
      <p:sp>
        <p:nvSpPr>
          <p:cNvPr id="9" name="Text 6"/>
          <p:cNvSpPr txBox="1"/>
          <p:nvPr/>
        </p:nvSpPr>
        <p:spPr>
          <a:xfrm>
            <a:off x="914400" y="5175504"/>
            <a:ext cx="2743200" cy="274320"/>
          </a:xfrm>
          <a:prstGeom prst="rect">
            <a:avLst/>
          </a:prstGeom>
          <a:noFill/>
          <a:ln/>
        </p:spPr>
        <p:txBody>
          <a:bodyPr wrap="square" lIns="0" tIns="0" rIns="0" bIns="0" rtlCol="0" anchor="ctr"/>
          <a:lstStyle/>
          <a:p>
            <a:pPr marL="0" indent="0">
              <a:buNone/>
            </a:pPr>
            <a:r>
              <a:rPr lang="en-US" sz="1200" b="1" kern="0" spc="200" dirty="0">
                <a:solidFill>
                  <a:srgbClr val="0E8F63"/>
                </a:solidFill>
                <a:latin typeface="Calibri" pitchFamily="34" charset="0"/>
                <a:ea typeface="Calibri" pitchFamily="34" charset="-122"/>
                <a:cs typeface="Calibri" pitchFamily="34" charset="-120"/>
              </a:rPr>
              <a:t>TAKEAWAY</a:t>
            </a:r>
            <a:endParaRPr lang="en-US" sz="1200" dirty="0"/>
          </a:p>
        </p:txBody>
      </p:sp>
      <p:sp>
        <p:nvSpPr>
          <p:cNvPr id="10" name="Text 7"/>
          <p:cNvSpPr txBox="1"/>
          <p:nvPr/>
        </p:nvSpPr>
        <p:spPr>
          <a:xfrm>
            <a:off x="914400" y="5449824"/>
            <a:ext cx="10378440" cy="822960"/>
          </a:xfrm>
          <a:prstGeom prst="rect">
            <a:avLst/>
          </a:prstGeom>
          <a:noFill/>
          <a:ln/>
        </p:spPr>
        <p:txBody>
          <a:bodyPr wrap="square" lIns="0" tIns="0" rIns="0" bIns="0" rtlCol="0" anchor="ctr"/>
          <a:lstStyle/>
          <a:p>
            <a:pPr marL="0" indent="0">
              <a:lnSpc>
                <a:spcPct val="104000"/>
              </a:lnSpc>
              <a:buNone/>
            </a:pPr>
            <a:r>
              <a:rPr lang="en-US" sz="1450" dirty="0">
                <a:solidFill>
                  <a:srgbClr val="1A2433"/>
                </a:solidFill>
                <a:latin typeface="Calibri" pitchFamily="34" charset="0"/>
                <a:ea typeface="Calibri" pitchFamily="34" charset="-122"/>
                <a:cs typeface="Calibri" pitchFamily="34" charset="-120"/>
              </a:rPr>
              <a:t>The third field, Onboard Success ($L:$L), completes the engine. Three columns, one reusable formula pattern, every vendor’s live state pulled into a single table that the KPI cards and charts read from.</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12B67E"/>
          </a:solidFill>
          <a:ln/>
        </p:spPr>
        <p:txBody>
          <a:bodyPr/>
          <a:lstStyle/>
          <a:p>
            <a:endParaRPr lang="en-US"/>
          </a:p>
        </p:txBody>
      </p:sp>
      <p:sp>
        <p:nvSpPr>
          <p:cNvPr id="3" name="Text 1"/>
          <p:cNvSpPr txBox="1"/>
          <p:nvPr/>
        </p:nvSpPr>
        <p:spPr>
          <a:xfrm>
            <a:off x="640080" y="457200"/>
            <a:ext cx="566928" cy="566928"/>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E4</a:t>
            </a:r>
            <a:endParaRPr lang="en-US" sz="1700" dirty="0"/>
          </a:p>
        </p:txBody>
      </p:sp>
      <p:sp>
        <p:nvSpPr>
          <p:cNvPr id="4" name="Text 2"/>
          <p:cNvSpPr txBox="1"/>
          <p:nvPr/>
        </p:nvSpPr>
        <p:spPr>
          <a:xfrm>
            <a:off x="1371600" y="457200"/>
            <a:ext cx="10149840" cy="274320"/>
          </a:xfrm>
          <a:prstGeom prst="rect">
            <a:avLst/>
          </a:prstGeom>
          <a:noFill/>
          <a:ln/>
        </p:spPr>
        <p:txBody>
          <a:bodyPr wrap="square" lIns="0" tIns="0" rIns="0" bIns="0" rtlCol="0" anchor="ctr"/>
          <a:lstStyle/>
          <a:p>
            <a:pPr marL="0" indent="0">
              <a:buNone/>
            </a:pPr>
            <a:r>
              <a:rPr lang="en-US" sz="1200" b="1" kern="0" spc="200" dirty="0">
                <a:solidFill>
                  <a:srgbClr val="0E8F63"/>
                </a:solidFill>
                <a:latin typeface="Calibri" pitchFamily="34" charset="0"/>
                <a:ea typeface="Calibri" pitchFamily="34" charset="-122"/>
                <a:cs typeface="Calibri" pitchFamily="34" charset="-120"/>
              </a:rPr>
              <a:t>THE SOURCE · STEP 4 OF 6</a:t>
            </a:r>
            <a:endParaRPr lang="en-US" sz="1200" dirty="0"/>
          </a:p>
        </p:txBody>
      </p:sp>
      <p:sp>
        <p:nvSpPr>
          <p:cNvPr id="5" name="Text 3"/>
          <p:cNvSpPr txBox="1"/>
          <p:nvPr/>
        </p:nvSpPr>
        <p:spPr>
          <a:xfrm>
            <a:off x="1371600" y="713232"/>
            <a:ext cx="10241280" cy="548640"/>
          </a:xfrm>
          <a:prstGeom prst="rect">
            <a:avLst/>
          </a:prstGeom>
          <a:noFill/>
          <a:ln/>
        </p:spPr>
        <p:txBody>
          <a:bodyPr wrap="square" lIns="0" tIns="0" rIns="0" bIns="0" rtlCol="0" anchor="ctr"/>
          <a:lstStyle/>
          <a:p>
            <a:pPr marL="0" indent="0">
              <a:buNone/>
            </a:pPr>
            <a:r>
              <a:rPr lang="en-US" sz="2600" b="1" dirty="0">
                <a:solidFill>
                  <a:srgbClr val="1A2433"/>
                </a:solidFill>
                <a:latin typeface="Calibri" pitchFamily="34" charset="0"/>
                <a:ea typeface="Calibri" pitchFamily="34" charset="-122"/>
                <a:cs typeface="Calibri" pitchFamily="34" charset="-120"/>
              </a:rPr>
              <a:t>Where the notes come from: a separate notes workbook</a:t>
            </a:r>
            <a:endParaRPr lang="en-US" sz="2600" dirty="0"/>
          </a:p>
        </p:txBody>
      </p:sp>
      <p:sp>
        <p:nvSpPr>
          <p:cNvPr id="6" name="Shape 4"/>
          <p:cNvSpPr/>
          <p:nvPr/>
        </p:nvSpPr>
        <p:spPr>
          <a:xfrm>
            <a:off x="557784" y="1628845"/>
            <a:ext cx="11073384" cy="2960229"/>
          </a:xfrm>
          <a:prstGeom prst="roundRect">
            <a:avLst>
              <a:gd name="adj" fmla="val 1853"/>
            </a:avLst>
          </a:prstGeom>
          <a:solidFill>
            <a:srgbClr val="FFFFFF"/>
          </a:solidFill>
          <a:ln w="12700">
            <a:solidFill>
              <a:srgbClr val="D9DEE5"/>
            </a:solidFill>
            <a:prstDash val="solid"/>
          </a:ln>
          <a:effectLst>
            <a:outerShdw blurRad="114300" dist="38100" dir="5400000" algn="bl" rotWithShape="0">
              <a:srgbClr val="9AA5B1">
                <a:alpha val="35000"/>
              </a:srgbClr>
            </a:outerShdw>
          </a:effectLst>
        </p:spPr>
        <p:txBody>
          <a:bodyPr/>
          <a:lstStyle/>
          <a:p>
            <a:endParaRPr lang="en-US"/>
          </a:p>
        </p:txBody>
      </p:sp>
      <p:pic>
        <p:nvPicPr>
          <p:cNvPr id="7" name="Image 0" descr="arena_shots/eng4_vlookup_notes.png"/>
          <p:cNvPicPr>
            <a:picLocks noChangeAspect="1"/>
          </p:cNvPicPr>
          <p:nvPr/>
        </p:nvPicPr>
        <p:blipFill>
          <a:blip r:embed="rId3"/>
          <a:stretch>
            <a:fillRect/>
          </a:stretch>
        </p:blipFill>
        <p:spPr>
          <a:xfrm>
            <a:off x="640080" y="1711141"/>
            <a:ext cx="10908792" cy="2795637"/>
          </a:xfrm>
          <a:prstGeom prst="rect">
            <a:avLst/>
          </a:prstGeom>
        </p:spPr>
      </p:pic>
      <p:sp>
        <p:nvSpPr>
          <p:cNvPr id="8" name="Shape 5"/>
          <p:cNvSpPr/>
          <p:nvPr/>
        </p:nvSpPr>
        <p:spPr>
          <a:xfrm>
            <a:off x="640080" y="5029200"/>
            <a:ext cx="10908792" cy="1325880"/>
          </a:xfrm>
          <a:prstGeom prst="roundRect">
            <a:avLst>
              <a:gd name="adj" fmla="val 5517"/>
            </a:avLst>
          </a:prstGeom>
          <a:solidFill>
            <a:srgbClr val="EAF7F1"/>
          </a:solidFill>
          <a:ln w="12700">
            <a:solidFill>
              <a:srgbClr val="CDEBDD"/>
            </a:solidFill>
            <a:prstDash val="solid"/>
          </a:ln>
        </p:spPr>
        <p:txBody>
          <a:bodyPr/>
          <a:lstStyle/>
          <a:p>
            <a:endParaRPr lang="en-US"/>
          </a:p>
        </p:txBody>
      </p:sp>
      <p:sp>
        <p:nvSpPr>
          <p:cNvPr id="9" name="Text 6"/>
          <p:cNvSpPr txBox="1"/>
          <p:nvPr/>
        </p:nvSpPr>
        <p:spPr>
          <a:xfrm>
            <a:off x="914400" y="5175504"/>
            <a:ext cx="2743200" cy="274320"/>
          </a:xfrm>
          <a:prstGeom prst="rect">
            <a:avLst/>
          </a:prstGeom>
          <a:noFill/>
          <a:ln/>
        </p:spPr>
        <p:txBody>
          <a:bodyPr wrap="square" lIns="0" tIns="0" rIns="0" bIns="0" rtlCol="0" anchor="ctr"/>
          <a:lstStyle/>
          <a:p>
            <a:pPr marL="0" indent="0">
              <a:buNone/>
            </a:pPr>
            <a:r>
              <a:rPr lang="en-US" sz="1200" b="1" kern="0" spc="200" dirty="0">
                <a:solidFill>
                  <a:srgbClr val="0E8F63"/>
                </a:solidFill>
                <a:latin typeface="Calibri" pitchFamily="34" charset="0"/>
                <a:ea typeface="Calibri" pitchFamily="34" charset="-122"/>
                <a:cs typeface="Calibri" pitchFamily="34" charset="-120"/>
              </a:rPr>
              <a:t>TAKEAWAY</a:t>
            </a:r>
            <a:endParaRPr lang="en-US" sz="1200" dirty="0"/>
          </a:p>
        </p:txBody>
      </p:sp>
      <p:sp>
        <p:nvSpPr>
          <p:cNvPr id="10" name="Text 7"/>
          <p:cNvSpPr txBox="1"/>
          <p:nvPr/>
        </p:nvSpPr>
        <p:spPr>
          <a:xfrm>
            <a:off x="914400" y="5449824"/>
            <a:ext cx="10378440" cy="822960"/>
          </a:xfrm>
          <a:prstGeom prst="rect">
            <a:avLst/>
          </a:prstGeom>
          <a:noFill/>
          <a:ln/>
        </p:spPr>
        <p:txBody>
          <a:bodyPr wrap="square" lIns="0" tIns="0" rIns="0" bIns="0" rtlCol="0" anchor="ctr"/>
          <a:lstStyle/>
          <a:p>
            <a:pPr marL="0" indent="0">
              <a:lnSpc>
                <a:spcPct val="104000"/>
              </a:lnSpc>
              <a:buNone/>
            </a:pPr>
            <a:r>
              <a:rPr lang="en-US" sz="1450" dirty="0">
                <a:solidFill>
                  <a:srgbClr val="1A2433"/>
                </a:solidFill>
                <a:latin typeface="Calibri" pitchFamily="34" charset="0"/>
                <a:ea typeface="Calibri" pitchFamily="34" charset="-122"/>
                <a:cs typeface="Calibri" pitchFamily="34" charset="-120"/>
              </a:rPr>
              <a:t>On each coordinator sheet, VLOOKUP pulls each vendor’s Comm Notes from a separate coordinator_notes.xlsx (AI-generated with Claude to represent realistic vendor communication: progress, poor comms, delays, or completion). Keeping notes in their own file keeps the working sheets clean.</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12B67E"/>
          </a:solidFill>
          <a:ln/>
        </p:spPr>
        <p:txBody>
          <a:bodyPr/>
          <a:lstStyle/>
          <a:p>
            <a:endParaRPr lang="en-US"/>
          </a:p>
        </p:txBody>
      </p:sp>
      <p:sp>
        <p:nvSpPr>
          <p:cNvPr id="3" name="Text 1"/>
          <p:cNvSpPr txBox="1"/>
          <p:nvPr/>
        </p:nvSpPr>
        <p:spPr>
          <a:xfrm>
            <a:off x="640080" y="457200"/>
            <a:ext cx="566928" cy="566928"/>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E5</a:t>
            </a:r>
            <a:endParaRPr lang="en-US" sz="1700" dirty="0"/>
          </a:p>
        </p:txBody>
      </p:sp>
      <p:sp>
        <p:nvSpPr>
          <p:cNvPr id="4" name="Text 2"/>
          <p:cNvSpPr txBox="1"/>
          <p:nvPr/>
        </p:nvSpPr>
        <p:spPr>
          <a:xfrm>
            <a:off x="1371600" y="457200"/>
            <a:ext cx="10149840" cy="274320"/>
          </a:xfrm>
          <a:prstGeom prst="rect">
            <a:avLst/>
          </a:prstGeom>
          <a:noFill/>
          <a:ln/>
        </p:spPr>
        <p:txBody>
          <a:bodyPr wrap="square" lIns="0" tIns="0" rIns="0" bIns="0" rtlCol="0" anchor="ctr"/>
          <a:lstStyle/>
          <a:p>
            <a:pPr marL="0" indent="0">
              <a:buNone/>
            </a:pPr>
            <a:r>
              <a:rPr lang="en-US" sz="1200" b="1" kern="0" spc="200" dirty="0">
                <a:solidFill>
                  <a:srgbClr val="0E8F63"/>
                </a:solidFill>
                <a:latin typeface="Calibri" pitchFamily="34" charset="0"/>
                <a:ea typeface="Calibri" pitchFamily="34" charset="-122"/>
                <a:cs typeface="Calibri" pitchFamily="34" charset="-120"/>
              </a:rPr>
              <a:t>THE SOURCE · STEP 5 OF 6</a:t>
            </a:r>
            <a:endParaRPr lang="en-US" sz="1200" dirty="0"/>
          </a:p>
        </p:txBody>
      </p:sp>
      <p:sp>
        <p:nvSpPr>
          <p:cNvPr id="5" name="Text 3"/>
          <p:cNvSpPr txBox="1"/>
          <p:nvPr/>
        </p:nvSpPr>
        <p:spPr>
          <a:xfrm>
            <a:off x="1371600" y="713232"/>
            <a:ext cx="10241280" cy="548640"/>
          </a:xfrm>
          <a:prstGeom prst="rect">
            <a:avLst/>
          </a:prstGeom>
          <a:noFill/>
          <a:ln/>
        </p:spPr>
        <p:txBody>
          <a:bodyPr wrap="square" lIns="0" tIns="0" rIns="0" bIns="0" rtlCol="0" anchor="ctr"/>
          <a:lstStyle/>
          <a:p>
            <a:pPr marL="0" indent="0">
              <a:buNone/>
            </a:pPr>
            <a:r>
              <a:rPr lang="en-US" sz="2600" b="1" dirty="0">
                <a:solidFill>
                  <a:srgbClr val="1A2433"/>
                </a:solidFill>
                <a:latin typeface="Calibri" pitchFamily="34" charset="0"/>
                <a:ea typeface="Calibri" pitchFamily="34" charset="-122"/>
                <a:cs typeface="Calibri" pitchFamily="34" charset="-120"/>
              </a:rPr>
              <a:t>The same lookup drives each vendor’s Status</a:t>
            </a:r>
            <a:endParaRPr lang="en-US" sz="2600" dirty="0"/>
          </a:p>
        </p:txBody>
      </p:sp>
      <p:sp>
        <p:nvSpPr>
          <p:cNvPr id="6" name="Shape 4"/>
          <p:cNvSpPr/>
          <p:nvPr/>
        </p:nvSpPr>
        <p:spPr>
          <a:xfrm>
            <a:off x="557784" y="1646542"/>
            <a:ext cx="11073384" cy="2924835"/>
          </a:xfrm>
          <a:prstGeom prst="roundRect">
            <a:avLst>
              <a:gd name="adj" fmla="val 1876"/>
            </a:avLst>
          </a:prstGeom>
          <a:solidFill>
            <a:srgbClr val="FFFFFF"/>
          </a:solidFill>
          <a:ln w="12700">
            <a:solidFill>
              <a:srgbClr val="D9DEE5"/>
            </a:solidFill>
            <a:prstDash val="solid"/>
          </a:ln>
          <a:effectLst>
            <a:outerShdw blurRad="114300" dist="38100" dir="5400000" algn="bl" rotWithShape="0">
              <a:srgbClr val="9AA5B1">
                <a:alpha val="35000"/>
              </a:srgbClr>
            </a:outerShdw>
          </a:effectLst>
        </p:spPr>
        <p:txBody>
          <a:bodyPr/>
          <a:lstStyle/>
          <a:p>
            <a:endParaRPr lang="en-US"/>
          </a:p>
        </p:txBody>
      </p:sp>
      <p:pic>
        <p:nvPicPr>
          <p:cNvPr id="7" name="Image 0" descr="arena_shots/eng5_vlookup_status.png"/>
          <p:cNvPicPr>
            <a:picLocks noChangeAspect="1"/>
          </p:cNvPicPr>
          <p:nvPr/>
        </p:nvPicPr>
        <p:blipFill>
          <a:blip r:embed="rId3"/>
          <a:stretch>
            <a:fillRect/>
          </a:stretch>
        </p:blipFill>
        <p:spPr>
          <a:xfrm>
            <a:off x="640080" y="1728838"/>
            <a:ext cx="10908792" cy="2760243"/>
          </a:xfrm>
          <a:prstGeom prst="rect">
            <a:avLst/>
          </a:prstGeom>
        </p:spPr>
      </p:pic>
      <p:sp>
        <p:nvSpPr>
          <p:cNvPr id="8" name="Shape 5"/>
          <p:cNvSpPr/>
          <p:nvPr/>
        </p:nvSpPr>
        <p:spPr>
          <a:xfrm>
            <a:off x="640080" y="5029200"/>
            <a:ext cx="10908792" cy="1325880"/>
          </a:xfrm>
          <a:prstGeom prst="roundRect">
            <a:avLst>
              <a:gd name="adj" fmla="val 5517"/>
            </a:avLst>
          </a:prstGeom>
          <a:solidFill>
            <a:srgbClr val="EAF7F1"/>
          </a:solidFill>
          <a:ln w="12700">
            <a:solidFill>
              <a:srgbClr val="CDEBDD"/>
            </a:solidFill>
            <a:prstDash val="solid"/>
          </a:ln>
        </p:spPr>
        <p:txBody>
          <a:bodyPr/>
          <a:lstStyle/>
          <a:p>
            <a:endParaRPr lang="en-US"/>
          </a:p>
        </p:txBody>
      </p:sp>
      <p:sp>
        <p:nvSpPr>
          <p:cNvPr id="9" name="Text 6"/>
          <p:cNvSpPr txBox="1"/>
          <p:nvPr/>
        </p:nvSpPr>
        <p:spPr>
          <a:xfrm>
            <a:off x="914400" y="5175504"/>
            <a:ext cx="2743200" cy="274320"/>
          </a:xfrm>
          <a:prstGeom prst="rect">
            <a:avLst/>
          </a:prstGeom>
          <a:noFill/>
          <a:ln/>
        </p:spPr>
        <p:txBody>
          <a:bodyPr wrap="square" lIns="0" tIns="0" rIns="0" bIns="0" rtlCol="0" anchor="ctr"/>
          <a:lstStyle/>
          <a:p>
            <a:pPr marL="0" indent="0">
              <a:buNone/>
            </a:pPr>
            <a:r>
              <a:rPr lang="en-US" sz="1200" b="1" kern="0" spc="200" dirty="0">
                <a:solidFill>
                  <a:srgbClr val="0E8F63"/>
                </a:solidFill>
                <a:latin typeface="Calibri" pitchFamily="34" charset="0"/>
                <a:ea typeface="Calibri" pitchFamily="34" charset="-122"/>
                <a:cs typeface="Calibri" pitchFamily="34" charset="-120"/>
              </a:rPr>
              <a:t>TAKEAWAY</a:t>
            </a:r>
            <a:endParaRPr lang="en-US" sz="1200" dirty="0"/>
          </a:p>
        </p:txBody>
      </p:sp>
      <p:sp>
        <p:nvSpPr>
          <p:cNvPr id="10" name="Text 7"/>
          <p:cNvSpPr txBox="1"/>
          <p:nvPr/>
        </p:nvSpPr>
        <p:spPr>
          <a:xfrm>
            <a:off x="914400" y="5449824"/>
            <a:ext cx="10378440" cy="822960"/>
          </a:xfrm>
          <a:prstGeom prst="rect">
            <a:avLst/>
          </a:prstGeom>
          <a:noFill/>
          <a:ln/>
        </p:spPr>
        <p:txBody>
          <a:bodyPr wrap="square" lIns="0" tIns="0" rIns="0" bIns="0" rtlCol="0" anchor="ctr"/>
          <a:lstStyle/>
          <a:p>
            <a:pPr marL="0" indent="0">
              <a:lnSpc>
                <a:spcPct val="104000"/>
              </a:lnSpc>
              <a:buNone/>
            </a:pPr>
            <a:r>
              <a:rPr lang="en-US" sz="1450" dirty="0">
                <a:solidFill>
                  <a:srgbClr val="1A2433"/>
                </a:solidFill>
                <a:latin typeface="Calibri" pitchFamily="34" charset="0"/>
                <a:ea typeface="Calibri" pitchFamily="34" charset="-122"/>
                <a:cs typeface="Calibri" pitchFamily="34" charset="-120"/>
              </a:rPr>
              <a:t>A second VLOOKUP against coordinator_notes.xlsx returns the Status value that the engine then rolls up. Status and notes stay in sync because they resolve from the same source row, keyed on Company ID.</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12B67E"/>
          </a:solidFill>
          <a:ln/>
        </p:spPr>
        <p:txBody>
          <a:bodyPr/>
          <a:lstStyle/>
          <a:p>
            <a:endParaRPr lang="en-US"/>
          </a:p>
        </p:txBody>
      </p:sp>
      <p:sp>
        <p:nvSpPr>
          <p:cNvPr id="3" name="Text 1"/>
          <p:cNvSpPr txBox="1"/>
          <p:nvPr/>
        </p:nvSpPr>
        <p:spPr>
          <a:xfrm>
            <a:off x="640080" y="457200"/>
            <a:ext cx="566928" cy="566928"/>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E6</a:t>
            </a:r>
            <a:endParaRPr lang="en-US" sz="1700" dirty="0"/>
          </a:p>
        </p:txBody>
      </p:sp>
      <p:sp>
        <p:nvSpPr>
          <p:cNvPr id="4" name="Text 2"/>
          <p:cNvSpPr txBox="1"/>
          <p:nvPr/>
        </p:nvSpPr>
        <p:spPr>
          <a:xfrm>
            <a:off x="1371600" y="457200"/>
            <a:ext cx="10149840" cy="274320"/>
          </a:xfrm>
          <a:prstGeom prst="rect">
            <a:avLst/>
          </a:prstGeom>
          <a:noFill/>
          <a:ln/>
        </p:spPr>
        <p:txBody>
          <a:bodyPr wrap="square" lIns="0" tIns="0" rIns="0" bIns="0" rtlCol="0" anchor="ctr"/>
          <a:lstStyle/>
          <a:p>
            <a:pPr marL="0" indent="0">
              <a:buNone/>
            </a:pPr>
            <a:r>
              <a:rPr lang="en-US" sz="1200" b="1" kern="0" spc="200" dirty="0">
                <a:solidFill>
                  <a:srgbClr val="0E8F63"/>
                </a:solidFill>
                <a:latin typeface="Calibri" pitchFamily="34" charset="0"/>
                <a:ea typeface="Calibri" pitchFamily="34" charset="-122"/>
                <a:cs typeface="Calibri" pitchFamily="34" charset="-120"/>
              </a:rPr>
              <a:t>THE LOGIC · STEP 6 OF 6</a:t>
            </a:r>
            <a:endParaRPr lang="en-US" sz="1200" dirty="0"/>
          </a:p>
        </p:txBody>
      </p:sp>
      <p:sp>
        <p:nvSpPr>
          <p:cNvPr id="5" name="Text 3"/>
          <p:cNvSpPr txBox="1"/>
          <p:nvPr/>
        </p:nvSpPr>
        <p:spPr>
          <a:xfrm>
            <a:off x="1371600" y="713232"/>
            <a:ext cx="10241280" cy="548640"/>
          </a:xfrm>
          <a:prstGeom prst="rect">
            <a:avLst/>
          </a:prstGeom>
          <a:noFill/>
          <a:ln/>
        </p:spPr>
        <p:txBody>
          <a:bodyPr wrap="square" lIns="0" tIns="0" rIns="0" bIns="0" rtlCol="0" anchor="ctr"/>
          <a:lstStyle/>
          <a:p>
            <a:pPr marL="0" indent="0">
              <a:buNone/>
            </a:pPr>
            <a:r>
              <a:rPr lang="en-US" sz="2600" b="1" dirty="0">
                <a:solidFill>
                  <a:srgbClr val="1A2433"/>
                </a:solidFill>
                <a:latin typeface="Calibri" pitchFamily="34" charset="0"/>
                <a:ea typeface="Calibri" pitchFamily="34" charset="-122"/>
                <a:cs typeface="Calibri" pitchFamily="34" charset="-120"/>
              </a:rPr>
              <a:t>Onboard Success is earned, not typed</a:t>
            </a:r>
            <a:endParaRPr lang="en-US" sz="2600" dirty="0"/>
          </a:p>
        </p:txBody>
      </p:sp>
      <p:sp>
        <p:nvSpPr>
          <p:cNvPr id="6" name="Shape 4"/>
          <p:cNvSpPr/>
          <p:nvPr/>
        </p:nvSpPr>
        <p:spPr>
          <a:xfrm>
            <a:off x="557784" y="1872414"/>
            <a:ext cx="11073384" cy="2473092"/>
          </a:xfrm>
          <a:prstGeom prst="roundRect">
            <a:avLst>
              <a:gd name="adj" fmla="val 2218"/>
            </a:avLst>
          </a:prstGeom>
          <a:solidFill>
            <a:srgbClr val="FFFFFF"/>
          </a:solidFill>
          <a:ln w="12700">
            <a:solidFill>
              <a:srgbClr val="D9DEE5"/>
            </a:solidFill>
            <a:prstDash val="solid"/>
          </a:ln>
          <a:effectLst>
            <a:outerShdw blurRad="114300" dist="38100" dir="5400000" algn="bl" rotWithShape="0">
              <a:srgbClr val="9AA5B1">
                <a:alpha val="35000"/>
              </a:srgbClr>
            </a:outerShdw>
          </a:effectLst>
        </p:spPr>
        <p:txBody>
          <a:bodyPr/>
          <a:lstStyle/>
          <a:p>
            <a:endParaRPr lang="en-US"/>
          </a:p>
        </p:txBody>
      </p:sp>
      <p:pic>
        <p:nvPicPr>
          <p:cNvPr id="7" name="Image 0" descr="arena_shots/eng6_success_logic.png"/>
          <p:cNvPicPr>
            <a:picLocks noChangeAspect="1"/>
          </p:cNvPicPr>
          <p:nvPr/>
        </p:nvPicPr>
        <p:blipFill>
          <a:blip r:embed="rId3"/>
          <a:stretch>
            <a:fillRect/>
          </a:stretch>
        </p:blipFill>
        <p:spPr>
          <a:xfrm>
            <a:off x="640080" y="1954710"/>
            <a:ext cx="10908792" cy="2308500"/>
          </a:xfrm>
          <a:prstGeom prst="rect">
            <a:avLst/>
          </a:prstGeom>
        </p:spPr>
      </p:pic>
      <p:sp>
        <p:nvSpPr>
          <p:cNvPr id="8" name="Shape 5"/>
          <p:cNvSpPr/>
          <p:nvPr/>
        </p:nvSpPr>
        <p:spPr>
          <a:xfrm>
            <a:off x="640080" y="5029200"/>
            <a:ext cx="10908792" cy="1325880"/>
          </a:xfrm>
          <a:prstGeom prst="roundRect">
            <a:avLst>
              <a:gd name="adj" fmla="val 5517"/>
            </a:avLst>
          </a:prstGeom>
          <a:solidFill>
            <a:srgbClr val="EAF7F1"/>
          </a:solidFill>
          <a:ln w="12700">
            <a:solidFill>
              <a:srgbClr val="CDEBDD"/>
            </a:solidFill>
            <a:prstDash val="solid"/>
          </a:ln>
        </p:spPr>
        <p:txBody>
          <a:bodyPr/>
          <a:lstStyle/>
          <a:p>
            <a:endParaRPr lang="en-US"/>
          </a:p>
        </p:txBody>
      </p:sp>
      <p:sp>
        <p:nvSpPr>
          <p:cNvPr id="9" name="Text 6"/>
          <p:cNvSpPr txBox="1"/>
          <p:nvPr/>
        </p:nvSpPr>
        <p:spPr>
          <a:xfrm>
            <a:off x="914400" y="5175504"/>
            <a:ext cx="2743200" cy="274320"/>
          </a:xfrm>
          <a:prstGeom prst="rect">
            <a:avLst/>
          </a:prstGeom>
          <a:noFill/>
          <a:ln/>
        </p:spPr>
        <p:txBody>
          <a:bodyPr wrap="square" lIns="0" tIns="0" rIns="0" bIns="0" rtlCol="0" anchor="ctr"/>
          <a:lstStyle/>
          <a:p>
            <a:pPr marL="0" indent="0">
              <a:buNone/>
            </a:pPr>
            <a:r>
              <a:rPr lang="en-US" sz="1200" b="1" kern="0" spc="200" dirty="0">
                <a:solidFill>
                  <a:srgbClr val="0E8F63"/>
                </a:solidFill>
                <a:latin typeface="Calibri" pitchFamily="34" charset="0"/>
                <a:ea typeface="Calibri" pitchFamily="34" charset="-122"/>
                <a:cs typeface="Calibri" pitchFamily="34" charset="-120"/>
              </a:rPr>
              <a:t>TAKEAWAY</a:t>
            </a:r>
            <a:endParaRPr lang="en-US" sz="1200" dirty="0"/>
          </a:p>
        </p:txBody>
      </p:sp>
      <p:sp>
        <p:nvSpPr>
          <p:cNvPr id="10" name="Text 7"/>
          <p:cNvSpPr txBox="1"/>
          <p:nvPr/>
        </p:nvSpPr>
        <p:spPr>
          <a:xfrm>
            <a:off x="914400" y="5449824"/>
            <a:ext cx="10378440" cy="822960"/>
          </a:xfrm>
          <a:prstGeom prst="rect">
            <a:avLst/>
          </a:prstGeom>
          <a:noFill/>
          <a:ln/>
        </p:spPr>
        <p:txBody>
          <a:bodyPr wrap="square" lIns="0" tIns="0" rIns="0" bIns="0" rtlCol="0" anchor="ctr"/>
          <a:lstStyle/>
          <a:p>
            <a:pPr marL="0" indent="0">
              <a:lnSpc>
                <a:spcPct val="104000"/>
              </a:lnSpc>
              <a:buNone/>
            </a:pPr>
            <a:r>
              <a:rPr lang="en-US" sz="1450" dirty="0">
                <a:solidFill>
                  <a:srgbClr val="1A2433"/>
                </a:solidFill>
                <a:latin typeface="Calibri" pitchFamily="34" charset="0"/>
                <a:ea typeface="Calibri" pitchFamily="34" charset="-122"/>
                <a:cs typeface="Calibri" pitchFamily="34" charset="-120"/>
              </a:rPr>
              <a:t>IF(COUNTIF over the COI, W9, and Spend checkboxes) returns TRUE only when all three documents are in, RECEIVED when some are, and FALSE otherwise. Conditional formatting shades RECEIVED yellow and TRUE green, so readiness is visible at a glance and impossible to fake.</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12B67E"/>
          </a:solidFill>
          <a:ln/>
        </p:spPr>
        <p:txBody>
          <a:bodyPr/>
          <a:lstStyle/>
          <a:p>
            <a:endParaRPr lang="en-US"/>
          </a:p>
        </p:txBody>
      </p:sp>
      <p:sp>
        <p:nvSpPr>
          <p:cNvPr id="3" name="Text 1"/>
          <p:cNvSpPr txBox="1"/>
          <p:nvPr/>
        </p:nvSpPr>
        <p:spPr>
          <a:xfrm>
            <a:off x="640080" y="457200"/>
            <a:ext cx="566928" cy="566928"/>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08</a:t>
            </a:r>
            <a:endParaRPr lang="en-US" sz="1700" dirty="0"/>
          </a:p>
        </p:txBody>
      </p:sp>
      <p:sp>
        <p:nvSpPr>
          <p:cNvPr id="4" name="Text 2"/>
          <p:cNvSpPr txBox="1"/>
          <p:nvPr/>
        </p:nvSpPr>
        <p:spPr>
          <a:xfrm>
            <a:off x="1371600" y="457200"/>
            <a:ext cx="10149840" cy="274320"/>
          </a:xfrm>
          <a:prstGeom prst="rect">
            <a:avLst/>
          </a:prstGeom>
          <a:noFill/>
          <a:ln/>
        </p:spPr>
        <p:txBody>
          <a:bodyPr wrap="square" lIns="0" tIns="0" rIns="0" bIns="0" rtlCol="0" anchor="ctr"/>
          <a:lstStyle/>
          <a:p>
            <a:pPr marL="0" indent="0">
              <a:buNone/>
            </a:pPr>
            <a:r>
              <a:rPr lang="en-US" sz="1200" b="1" kern="0" spc="200" dirty="0">
                <a:solidFill>
                  <a:srgbClr val="0E8F63"/>
                </a:solidFill>
                <a:latin typeface="Calibri" pitchFamily="34" charset="0"/>
                <a:ea typeface="Calibri" pitchFamily="34" charset="-122"/>
                <a:cs typeface="Calibri" pitchFamily="34" charset="-120"/>
              </a:rPr>
              <a:t>DATA QUALITY</a:t>
            </a:r>
            <a:endParaRPr lang="en-US" sz="1200" dirty="0"/>
          </a:p>
        </p:txBody>
      </p:sp>
      <p:sp>
        <p:nvSpPr>
          <p:cNvPr id="5" name="Text 3"/>
          <p:cNvSpPr txBox="1"/>
          <p:nvPr/>
        </p:nvSpPr>
        <p:spPr>
          <a:xfrm>
            <a:off x="1371600" y="713232"/>
            <a:ext cx="10241280" cy="548640"/>
          </a:xfrm>
          <a:prstGeom prst="rect">
            <a:avLst/>
          </a:prstGeom>
          <a:noFill/>
          <a:ln/>
        </p:spPr>
        <p:txBody>
          <a:bodyPr wrap="square" lIns="0" tIns="0" rIns="0" bIns="0" rtlCol="0" anchor="ctr"/>
          <a:lstStyle/>
          <a:p>
            <a:pPr marL="0" indent="0">
              <a:buNone/>
            </a:pPr>
            <a:r>
              <a:rPr lang="en-US" sz="2600" b="1" dirty="0">
                <a:solidFill>
                  <a:srgbClr val="1A2433"/>
                </a:solidFill>
                <a:latin typeface="Calibri" pitchFamily="34" charset="0"/>
                <a:ea typeface="Calibri" pitchFamily="34" charset="-122"/>
                <a:cs typeface="Calibri" pitchFamily="34" charset="-120"/>
              </a:rPr>
              <a:t>Trustworthy numbers start with a clean list</a:t>
            </a:r>
            <a:endParaRPr lang="en-US" sz="2600" dirty="0"/>
          </a:p>
        </p:txBody>
      </p:sp>
      <p:sp>
        <p:nvSpPr>
          <p:cNvPr id="6" name="Shape 4"/>
          <p:cNvSpPr/>
          <p:nvPr/>
        </p:nvSpPr>
        <p:spPr>
          <a:xfrm>
            <a:off x="1188720" y="1965960"/>
            <a:ext cx="2743200" cy="1554480"/>
          </a:xfrm>
          <a:prstGeom prst="roundRect">
            <a:avLst>
              <a:gd name="adj" fmla="val 5294"/>
            </a:avLst>
          </a:prstGeom>
          <a:solidFill>
            <a:srgbClr val="F4F6F8"/>
          </a:solidFill>
          <a:ln w="12700">
            <a:solidFill>
              <a:srgbClr val="D9DEE5"/>
            </a:solidFill>
            <a:prstDash val="solid"/>
          </a:ln>
        </p:spPr>
        <p:txBody>
          <a:bodyPr/>
          <a:lstStyle/>
          <a:p>
            <a:endParaRPr lang="en-US"/>
          </a:p>
        </p:txBody>
      </p:sp>
      <p:sp>
        <p:nvSpPr>
          <p:cNvPr id="7" name="Text 5"/>
          <p:cNvSpPr txBox="1"/>
          <p:nvPr/>
        </p:nvSpPr>
        <p:spPr>
          <a:xfrm>
            <a:off x="1188720" y="2148840"/>
            <a:ext cx="2743200" cy="822960"/>
          </a:xfrm>
          <a:prstGeom prst="rect">
            <a:avLst/>
          </a:prstGeom>
          <a:noFill/>
          <a:ln/>
        </p:spPr>
        <p:txBody>
          <a:bodyPr wrap="square" lIns="0" tIns="0" rIns="0" bIns="0" rtlCol="0" anchor="ctr"/>
          <a:lstStyle/>
          <a:p>
            <a:pPr marL="0" indent="0" algn="ctr">
              <a:buNone/>
            </a:pPr>
            <a:r>
              <a:rPr lang="en-US" sz="4800" b="1" dirty="0">
                <a:solidFill>
                  <a:srgbClr val="6B7280"/>
                </a:solidFill>
                <a:latin typeface="Calibri" pitchFamily="34" charset="0"/>
                <a:ea typeface="Calibri" pitchFamily="34" charset="-122"/>
                <a:cs typeface="Calibri" pitchFamily="34" charset="-120"/>
              </a:rPr>
              <a:t>400</a:t>
            </a:r>
            <a:endParaRPr lang="en-US" sz="4800" dirty="0"/>
          </a:p>
        </p:txBody>
      </p:sp>
      <p:sp>
        <p:nvSpPr>
          <p:cNvPr id="8" name="Text 6"/>
          <p:cNvSpPr txBox="1"/>
          <p:nvPr/>
        </p:nvSpPr>
        <p:spPr>
          <a:xfrm>
            <a:off x="1325880" y="2971800"/>
            <a:ext cx="2468880" cy="502920"/>
          </a:xfrm>
          <a:prstGeom prst="rect">
            <a:avLst/>
          </a:prstGeom>
          <a:noFill/>
          <a:ln/>
        </p:spPr>
        <p:txBody>
          <a:bodyPr wrap="square" lIns="0" tIns="0" rIns="0" bIns="0" rtlCol="0" anchor="ctr"/>
          <a:lstStyle/>
          <a:p>
            <a:pPr marL="0" indent="0" algn="ctr">
              <a:lnSpc>
                <a:spcPct val="95000"/>
              </a:lnSpc>
              <a:buNone/>
            </a:pPr>
            <a:r>
              <a:rPr lang="en-US" sz="1150" dirty="0">
                <a:solidFill>
                  <a:srgbClr val="6B7280"/>
                </a:solidFill>
                <a:latin typeface="Calibri" pitchFamily="34" charset="0"/>
                <a:ea typeface="Calibri" pitchFamily="34" charset="-122"/>
                <a:cs typeface="Calibri" pitchFamily="34" charset="-120"/>
              </a:rPr>
              <a:t>raw rows</a:t>
            </a:r>
            <a:endParaRPr lang="en-US" sz="1150" dirty="0"/>
          </a:p>
          <a:p>
            <a:pPr marL="0" indent="0" algn="ctr">
              <a:lnSpc>
                <a:spcPct val="95000"/>
              </a:lnSpc>
              <a:buNone/>
            </a:pPr>
            <a:r>
              <a:rPr lang="en-US" sz="1150" dirty="0">
                <a:solidFill>
                  <a:srgbClr val="6B7280"/>
                </a:solidFill>
                <a:latin typeface="Calibri" pitchFamily="34" charset="0"/>
                <a:ea typeface="Calibri" pitchFamily="34" charset="-122"/>
                <a:cs typeface="Calibri" pitchFamily="34" charset="-120"/>
              </a:rPr>
              <a:t>(exact duplicates + fuzzy name variants)</a:t>
            </a:r>
            <a:endParaRPr lang="en-US" sz="1150" dirty="0"/>
          </a:p>
        </p:txBody>
      </p:sp>
      <p:sp>
        <p:nvSpPr>
          <p:cNvPr id="9" name="Shape 7"/>
          <p:cNvSpPr/>
          <p:nvPr/>
        </p:nvSpPr>
        <p:spPr>
          <a:xfrm>
            <a:off x="4343400" y="2514600"/>
            <a:ext cx="1005840" cy="457200"/>
          </a:xfrm>
          <a:prstGeom prst="chevron">
            <a:avLst/>
          </a:prstGeom>
          <a:solidFill>
            <a:srgbClr val="12B67E"/>
          </a:solidFill>
          <a:ln/>
        </p:spPr>
        <p:txBody>
          <a:bodyPr/>
          <a:lstStyle/>
          <a:p>
            <a:endParaRPr lang="en-US"/>
          </a:p>
        </p:txBody>
      </p:sp>
      <p:sp>
        <p:nvSpPr>
          <p:cNvPr id="10" name="Shape 8"/>
          <p:cNvSpPr/>
          <p:nvPr/>
        </p:nvSpPr>
        <p:spPr>
          <a:xfrm>
            <a:off x="5806440" y="1965960"/>
            <a:ext cx="2743200" cy="1554480"/>
          </a:xfrm>
          <a:prstGeom prst="roundRect">
            <a:avLst>
              <a:gd name="adj" fmla="val 5294"/>
            </a:avLst>
          </a:prstGeom>
          <a:solidFill>
            <a:srgbClr val="0E2138"/>
          </a:solidFill>
          <a:ln/>
        </p:spPr>
        <p:txBody>
          <a:bodyPr/>
          <a:lstStyle/>
          <a:p>
            <a:endParaRPr lang="en-US"/>
          </a:p>
        </p:txBody>
      </p:sp>
      <p:sp>
        <p:nvSpPr>
          <p:cNvPr id="11" name="Text 9"/>
          <p:cNvSpPr txBox="1"/>
          <p:nvPr/>
        </p:nvSpPr>
        <p:spPr>
          <a:xfrm>
            <a:off x="5806440" y="2148840"/>
            <a:ext cx="2743200" cy="822960"/>
          </a:xfrm>
          <a:prstGeom prst="rect">
            <a:avLst/>
          </a:prstGeom>
          <a:noFill/>
          <a:ln/>
        </p:spPr>
        <p:txBody>
          <a:bodyPr wrap="square" lIns="0" tIns="0" rIns="0" bIns="0" rtlCol="0" anchor="ctr"/>
          <a:lstStyle/>
          <a:p>
            <a:pPr marL="0" indent="0" algn="ctr">
              <a:buNone/>
            </a:pPr>
            <a:r>
              <a:rPr lang="en-US" sz="4800" b="1" dirty="0">
                <a:solidFill>
                  <a:srgbClr val="12B67E"/>
                </a:solidFill>
                <a:latin typeface="Calibri" pitchFamily="34" charset="0"/>
                <a:ea typeface="Calibri" pitchFamily="34" charset="-122"/>
                <a:cs typeface="Calibri" pitchFamily="34" charset="-120"/>
              </a:rPr>
              <a:t>370</a:t>
            </a:r>
            <a:endParaRPr lang="en-US" sz="4800" dirty="0"/>
          </a:p>
        </p:txBody>
      </p:sp>
      <p:sp>
        <p:nvSpPr>
          <p:cNvPr id="12" name="Text 10"/>
          <p:cNvSpPr txBox="1"/>
          <p:nvPr/>
        </p:nvSpPr>
        <p:spPr>
          <a:xfrm>
            <a:off x="5943600" y="2971800"/>
            <a:ext cx="2468880" cy="502920"/>
          </a:xfrm>
          <a:prstGeom prst="rect">
            <a:avLst/>
          </a:prstGeom>
          <a:noFill/>
          <a:ln/>
        </p:spPr>
        <p:txBody>
          <a:bodyPr wrap="square" lIns="0" tIns="0" rIns="0" bIns="0" rtlCol="0" anchor="ctr"/>
          <a:lstStyle/>
          <a:p>
            <a:pPr marL="0" indent="0" algn="ctr">
              <a:lnSpc>
                <a:spcPct val="95000"/>
              </a:lnSpc>
              <a:buNone/>
            </a:pPr>
            <a:r>
              <a:rPr lang="en-US" sz="1150" dirty="0">
                <a:solidFill>
                  <a:srgbClr val="CFE0EE"/>
                </a:solidFill>
                <a:latin typeface="Calibri" pitchFamily="34" charset="0"/>
                <a:ea typeface="Calibri" pitchFamily="34" charset="-122"/>
                <a:cs typeface="Calibri" pitchFamily="34" charset="-120"/>
              </a:rPr>
              <a:t>clean, unique vendors</a:t>
            </a:r>
            <a:endParaRPr lang="en-US" sz="1150" dirty="0"/>
          </a:p>
          <a:p>
            <a:pPr marL="0" indent="0" algn="ctr">
              <a:lnSpc>
                <a:spcPct val="95000"/>
              </a:lnSpc>
              <a:buNone/>
            </a:pPr>
            <a:r>
              <a:rPr lang="en-US" sz="1150" dirty="0">
                <a:solidFill>
                  <a:srgbClr val="CFE0EE"/>
                </a:solidFill>
                <a:latin typeface="Calibri" pitchFamily="34" charset="0"/>
                <a:ea typeface="Calibri" pitchFamily="34" charset="-122"/>
                <a:cs typeface="Calibri" pitchFamily="34" charset="-120"/>
              </a:rPr>
              <a:t>(the analysis base)</a:t>
            </a:r>
            <a:endParaRPr lang="en-US" sz="1150" dirty="0"/>
          </a:p>
        </p:txBody>
      </p:sp>
      <p:sp>
        <p:nvSpPr>
          <p:cNvPr id="13" name="Text 11"/>
          <p:cNvSpPr txBox="1"/>
          <p:nvPr/>
        </p:nvSpPr>
        <p:spPr>
          <a:xfrm>
            <a:off x="8869680" y="2514600"/>
            <a:ext cx="2743200" cy="457200"/>
          </a:xfrm>
          <a:prstGeom prst="rect">
            <a:avLst/>
          </a:prstGeom>
          <a:noFill/>
          <a:ln/>
        </p:spPr>
        <p:txBody>
          <a:bodyPr wrap="square" lIns="0" tIns="0" rIns="0" bIns="0" rtlCol="0" anchor="ctr"/>
          <a:lstStyle/>
          <a:p>
            <a:pPr marL="0" indent="0">
              <a:buNone/>
            </a:pPr>
            <a:r>
              <a:rPr lang="en-US" sz="1400" b="1" dirty="0">
                <a:solidFill>
                  <a:srgbClr val="0E8F63"/>
                </a:solidFill>
                <a:latin typeface="Calibri" pitchFamily="34" charset="0"/>
                <a:ea typeface="Calibri" pitchFamily="34" charset="-122"/>
                <a:cs typeface="Calibri" pitchFamily="34" charset="-120"/>
              </a:rPr>
              <a:t>Remove Duplicates + Fuzzy Lookup</a:t>
            </a:r>
            <a:endParaRPr lang="en-US" sz="1400" dirty="0"/>
          </a:p>
        </p:txBody>
      </p:sp>
      <p:sp>
        <p:nvSpPr>
          <p:cNvPr id="14" name="Shape 12"/>
          <p:cNvSpPr/>
          <p:nvPr/>
        </p:nvSpPr>
        <p:spPr>
          <a:xfrm>
            <a:off x="640080" y="4572000"/>
            <a:ext cx="10908792" cy="1325880"/>
          </a:xfrm>
          <a:prstGeom prst="roundRect">
            <a:avLst>
              <a:gd name="adj" fmla="val 5517"/>
            </a:avLst>
          </a:prstGeom>
          <a:solidFill>
            <a:srgbClr val="EAF7F1"/>
          </a:solidFill>
          <a:ln w="12700">
            <a:solidFill>
              <a:srgbClr val="CDEBDD"/>
            </a:solidFill>
            <a:prstDash val="solid"/>
          </a:ln>
        </p:spPr>
        <p:txBody>
          <a:bodyPr/>
          <a:lstStyle/>
          <a:p>
            <a:endParaRPr lang="en-US"/>
          </a:p>
        </p:txBody>
      </p:sp>
      <p:sp>
        <p:nvSpPr>
          <p:cNvPr id="15" name="Text 13"/>
          <p:cNvSpPr txBox="1"/>
          <p:nvPr/>
        </p:nvSpPr>
        <p:spPr>
          <a:xfrm>
            <a:off x="914400" y="4718304"/>
            <a:ext cx="2743200" cy="274320"/>
          </a:xfrm>
          <a:prstGeom prst="rect">
            <a:avLst/>
          </a:prstGeom>
          <a:noFill/>
          <a:ln/>
        </p:spPr>
        <p:txBody>
          <a:bodyPr wrap="square" lIns="0" tIns="0" rIns="0" bIns="0" rtlCol="0" anchor="ctr"/>
          <a:lstStyle/>
          <a:p>
            <a:pPr marL="0" indent="0">
              <a:buNone/>
            </a:pPr>
            <a:r>
              <a:rPr lang="en-US" sz="1200" b="1" kern="0" spc="200" dirty="0">
                <a:solidFill>
                  <a:srgbClr val="0E8F63"/>
                </a:solidFill>
                <a:latin typeface="Calibri" pitchFamily="34" charset="0"/>
                <a:ea typeface="Calibri" pitchFamily="34" charset="-122"/>
                <a:cs typeface="Calibri" pitchFamily="34" charset="-120"/>
              </a:rPr>
              <a:t>TAKEAWAY</a:t>
            </a:r>
            <a:endParaRPr lang="en-US" sz="1200" dirty="0"/>
          </a:p>
        </p:txBody>
      </p:sp>
      <p:sp>
        <p:nvSpPr>
          <p:cNvPr id="16" name="Text 14"/>
          <p:cNvSpPr txBox="1"/>
          <p:nvPr/>
        </p:nvSpPr>
        <p:spPr>
          <a:xfrm>
            <a:off x="914400" y="4992624"/>
            <a:ext cx="10378440" cy="822960"/>
          </a:xfrm>
          <a:prstGeom prst="rect">
            <a:avLst/>
          </a:prstGeom>
          <a:noFill/>
          <a:ln/>
        </p:spPr>
        <p:txBody>
          <a:bodyPr wrap="square" lIns="0" tIns="0" rIns="0" bIns="0" rtlCol="0" anchor="ctr"/>
          <a:lstStyle/>
          <a:p>
            <a:pPr marL="0" indent="0">
              <a:lnSpc>
                <a:spcPct val="104000"/>
              </a:lnSpc>
              <a:buNone/>
            </a:pPr>
            <a:r>
              <a:rPr lang="en-US" sz="1450" dirty="0">
                <a:solidFill>
                  <a:srgbClr val="1A2433"/>
                </a:solidFill>
                <a:latin typeface="Calibri" pitchFamily="34" charset="0"/>
                <a:ea typeface="Calibri" pitchFamily="34" charset="-122"/>
                <a:cs typeface="Calibri" pitchFamily="34" charset="-120"/>
              </a:rPr>
              <a:t>The same supplier had been entered under slightly different names. Remove Duplicates caught the exact copies; Fuzzy Lookup caught the near-matches. Every downstream number reads from this cleaned base through the live engine, which is what makes the dashboard trustworthy rather than merely impressive.</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2138"/>
        </a:solidFill>
        <a:effectLst/>
      </p:bgPr>
    </p:bg>
    <p:spTree>
      <p:nvGrpSpPr>
        <p:cNvPr id="1" name=""/>
        <p:cNvGrpSpPr/>
        <p:nvPr/>
      </p:nvGrpSpPr>
      <p:grpSpPr>
        <a:xfrm>
          <a:off x="0" y="0"/>
          <a:ext cx="0" cy="0"/>
          <a:chOff x="0" y="0"/>
          <a:chExt cx="0" cy="0"/>
        </a:xfrm>
      </p:grpSpPr>
      <p:sp>
        <p:nvSpPr>
          <p:cNvPr id="2" name="Text 0"/>
          <p:cNvSpPr txBox="1"/>
          <p:nvPr/>
        </p:nvSpPr>
        <p:spPr>
          <a:xfrm>
            <a:off x="822960" y="640080"/>
            <a:ext cx="10515600" cy="73152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What opening-day readiness looks like</a:t>
            </a:r>
            <a:endParaRPr lang="en-US" sz="3400" dirty="0"/>
          </a:p>
        </p:txBody>
      </p:sp>
      <p:sp>
        <p:nvSpPr>
          <p:cNvPr id="3" name="Shape 1"/>
          <p:cNvSpPr/>
          <p:nvPr/>
        </p:nvSpPr>
        <p:spPr>
          <a:xfrm>
            <a:off x="822960" y="1508760"/>
            <a:ext cx="3383280" cy="1371600"/>
          </a:xfrm>
          <a:prstGeom prst="roundRect">
            <a:avLst>
              <a:gd name="adj" fmla="val 5333"/>
            </a:avLst>
          </a:prstGeom>
          <a:solidFill>
            <a:srgbClr val="16324F"/>
          </a:solidFill>
          <a:ln w="12700">
            <a:solidFill>
              <a:srgbClr val="2C5170"/>
            </a:solidFill>
            <a:prstDash val="solid"/>
          </a:ln>
        </p:spPr>
        <p:txBody>
          <a:bodyPr/>
          <a:lstStyle/>
          <a:p>
            <a:endParaRPr lang="en-US"/>
          </a:p>
        </p:txBody>
      </p:sp>
      <p:sp>
        <p:nvSpPr>
          <p:cNvPr id="4" name="Text 2"/>
          <p:cNvSpPr txBox="1"/>
          <p:nvPr/>
        </p:nvSpPr>
        <p:spPr>
          <a:xfrm>
            <a:off x="822960" y="1645920"/>
            <a:ext cx="3383280" cy="777240"/>
          </a:xfrm>
          <a:prstGeom prst="rect">
            <a:avLst/>
          </a:prstGeom>
          <a:noFill/>
          <a:ln/>
        </p:spPr>
        <p:txBody>
          <a:bodyPr wrap="square" lIns="0" tIns="0" rIns="0" bIns="0" rtlCol="0" anchor="ctr"/>
          <a:lstStyle/>
          <a:p>
            <a:pPr marL="0" indent="0" algn="ctr">
              <a:buNone/>
            </a:pPr>
            <a:r>
              <a:rPr lang="en-US" sz="3600" b="1" dirty="0">
                <a:solidFill>
                  <a:srgbClr val="12B67E"/>
                </a:solidFill>
                <a:latin typeface="Calibri" pitchFamily="34" charset="0"/>
                <a:ea typeface="Calibri" pitchFamily="34" charset="-122"/>
                <a:cs typeface="Calibri" pitchFamily="34" charset="-120"/>
              </a:rPr>
              <a:t>$5.55M</a:t>
            </a:r>
            <a:endParaRPr lang="en-US" sz="3600" dirty="0"/>
          </a:p>
        </p:txBody>
      </p:sp>
      <p:sp>
        <p:nvSpPr>
          <p:cNvPr id="5" name="Text 3"/>
          <p:cNvSpPr txBox="1"/>
          <p:nvPr/>
        </p:nvSpPr>
        <p:spPr>
          <a:xfrm>
            <a:off x="960120" y="2395728"/>
            <a:ext cx="3108960" cy="411480"/>
          </a:xfrm>
          <a:prstGeom prst="rect">
            <a:avLst/>
          </a:prstGeom>
          <a:noFill/>
          <a:ln/>
        </p:spPr>
        <p:txBody>
          <a:bodyPr wrap="square" lIns="0" tIns="0" rIns="0" bIns="0" rtlCol="0" anchor="ctr"/>
          <a:lstStyle/>
          <a:p>
            <a:pPr marL="0" indent="0" algn="ctr">
              <a:buNone/>
            </a:pPr>
            <a:r>
              <a:rPr lang="en-US" sz="1250" dirty="0">
                <a:solidFill>
                  <a:srgbClr val="CFE0EE"/>
                </a:solidFill>
                <a:latin typeface="Calibri" pitchFamily="34" charset="0"/>
                <a:ea typeface="Calibri" pitchFamily="34" charset="-122"/>
                <a:cs typeface="Calibri" pitchFamily="34" charset="-120"/>
              </a:rPr>
              <a:t>critical spend to secure</a:t>
            </a:r>
            <a:endParaRPr lang="en-US" sz="1250" dirty="0"/>
          </a:p>
        </p:txBody>
      </p:sp>
      <p:sp>
        <p:nvSpPr>
          <p:cNvPr id="6" name="Shape 4"/>
          <p:cNvSpPr/>
          <p:nvPr/>
        </p:nvSpPr>
        <p:spPr>
          <a:xfrm>
            <a:off x="4480560" y="1508760"/>
            <a:ext cx="3383280" cy="1371600"/>
          </a:xfrm>
          <a:prstGeom prst="roundRect">
            <a:avLst>
              <a:gd name="adj" fmla="val 5333"/>
            </a:avLst>
          </a:prstGeom>
          <a:solidFill>
            <a:srgbClr val="16324F"/>
          </a:solidFill>
          <a:ln w="12700">
            <a:solidFill>
              <a:srgbClr val="2C5170"/>
            </a:solidFill>
            <a:prstDash val="solid"/>
          </a:ln>
        </p:spPr>
        <p:txBody>
          <a:bodyPr/>
          <a:lstStyle/>
          <a:p>
            <a:endParaRPr lang="en-US"/>
          </a:p>
        </p:txBody>
      </p:sp>
      <p:sp>
        <p:nvSpPr>
          <p:cNvPr id="7" name="Text 5"/>
          <p:cNvSpPr txBox="1"/>
          <p:nvPr/>
        </p:nvSpPr>
        <p:spPr>
          <a:xfrm>
            <a:off x="4480560" y="1645920"/>
            <a:ext cx="3383280" cy="777240"/>
          </a:xfrm>
          <a:prstGeom prst="rect">
            <a:avLst/>
          </a:prstGeom>
          <a:noFill/>
          <a:ln/>
        </p:spPr>
        <p:txBody>
          <a:bodyPr wrap="square" lIns="0" tIns="0" rIns="0" bIns="0" rtlCol="0" anchor="ctr"/>
          <a:lstStyle/>
          <a:p>
            <a:pPr marL="0" indent="0" algn="ctr">
              <a:buNone/>
            </a:pPr>
            <a:r>
              <a:rPr lang="en-US" sz="3600" b="1" dirty="0">
                <a:solidFill>
                  <a:srgbClr val="12B67E"/>
                </a:solidFill>
                <a:latin typeface="Calibri" pitchFamily="34" charset="0"/>
                <a:ea typeface="Calibri" pitchFamily="34" charset="-122"/>
                <a:cs typeface="Calibri" pitchFamily="34" charset="-120"/>
              </a:rPr>
              <a:t>32</a:t>
            </a:r>
            <a:endParaRPr lang="en-US" sz="3600" dirty="0"/>
          </a:p>
        </p:txBody>
      </p:sp>
      <p:sp>
        <p:nvSpPr>
          <p:cNvPr id="8" name="Text 6"/>
          <p:cNvSpPr txBox="1"/>
          <p:nvPr/>
        </p:nvSpPr>
        <p:spPr>
          <a:xfrm>
            <a:off x="4617720" y="2395728"/>
            <a:ext cx="3108960" cy="411480"/>
          </a:xfrm>
          <a:prstGeom prst="rect">
            <a:avLst/>
          </a:prstGeom>
          <a:noFill/>
          <a:ln/>
        </p:spPr>
        <p:txBody>
          <a:bodyPr wrap="square" lIns="0" tIns="0" rIns="0" bIns="0" rtlCol="0" anchor="ctr"/>
          <a:lstStyle/>
          <a:p>
            <a:pPr marL="0" indent="0" algn="ctr">
              <a:buNone/>
            </a:pPr>
            <a:r>
              <a:rPr lang="en-US" sz="1250" dirty="0">
                <a:solidFill>
                  <a:srgbClr val="CFE0EE"/>
                </a:solidFill>
                <a:latin typeface="Calibri" pitchFamily="34" charset="0"/>
                <a:ea typeface="Calibri" pitchFamily="34" charset="-122"/>
                <a:cs typeface="Calibri" pitchFamily="34" charset="-120"/>
              </a:rPr>
              <a:t>critical suppliers to close</a:t>
            </a:r>
            <a:endParaRPr lang="en-US" sz="1250" dirty="0"/>
          </a:p>
        </p:txBody>
      </p:sp>
      <p:sp>
        <p:nvSpPr>
          <p:cNvPr id="9" name="Shape 7"/>
          <p:cNvSpPr/>
          <p:nvPr/>
        </p:nvSpPr>
        <p:spPr>
          <a:xfrm>
            <a:off x="8138160" y="1508760"/>
            <a:ext cx="3383280" cy="1371600"/>
          </a:xfrm>
          <a:prstGeom prst="roundRect">
            <a:avLst>
              <a:gd name="adj" fmla="val 5333"/>
            </a:avLst>
          </a:prstGeom>
          <a:solidFill>
            <a:srgbClr val="16324F"/>
          </a:solidFill>
          <a:ln w="12700">
            <a:solidFill>
              <a:srgbClr val="2C5170"/>
            </a:solidFill>
            <a:prstDash val="solid"/>
          </a:ln>
        </p:spPr>
        <p:txBody>
          <a:bodyPr/>
          <a:lstStyle/>
          <a:p>
            <a:endParaRPr lang="en-US"/>
          </a:p>
        </p:txBody>
      </p:sp>
      <p:sp>
        <p:nvSpPr>
          <p:cNvPr id="10" name="Text 8"/>
          <p:cNvSpPr txBox="1"/>
          <p:nvPr/>
        </p:nvSpPr>
        <p:spPr>
          <a:xfrm>
            <a:off x="8138160" y="1645920"/>
            <a:ext cx="3383280" cy="777240"/>
          </a:xfrm>
          <a:prstGeom prst="rect">
            <a:avLst/>
          </a:prstGeom>
          <a:noFill/>
          <a:ln/>
        </p:spPr>
        <p:txBody>
          <a:bodyPr wrap="square" lIns="0" tIns="0" rIns="0" bIns="0" rtlCol="0" anchor="ctr"/>
          <a:lstStyle/>
          <a:p>
            <a:pPr marL="0" indent="0" algn="ctr">
              <a:buNone/>
            </a:pPr>
            <a:r>
              <a:rPr lang="en-US" sz="3600" b="1" dirty="0">
                <a:solidFill>
                  <a:srgbClr val="12B67E"/>
                </a:solidFill>
                <a:latin typeface="Calibri" pitchFamily="34" charset="0"/>
                <a:ea typeface="Calibri" pitchFamily="34" charset="-122"/>
                <a:cs typeface="Calibri" pitchFamily="34" charset="-120"/>
              </a:rPr>
              <a:t>100%</a:t>
            </a:r>
            <a:endParaRPr lang="en-US" sz="3600" dirty="0"/>
          </a:p>
        </p:txBody>
      </p:sp>
      <p:sp>
        <p:nvSpPr>
          <p:cNvPr id="11" name="Text 9"/>
          <p:cNvSpPr txBox="1"/>
          <p:nvPr/>
        </p:nvSpPr>
        <p:spPr>
          <a:xfrm>
            <a:off x="8275320" y="2395728"/>
            <a:ext cx="3108960" cy="411480"/>
          </a:xfrm>
          <a:prstGeom prst="rect">
            <a:avLst/>
          </a:prstGeom>
          <a:noFill/>
          <a:ln/>
        </p:spPr>
        <p:txBody>
          <a:bodyPr wrap="square" lIns="0" tIns="0" rIns="0" bIns="0" rtlCol="0" anchor="ctr"/>
          <a:lstStyle/>
          <a:p>
            <a:pPr marL="0" indent="0" algn="ctr">
              <a:buNone/>
            </a:pPr>
            <a:r>
              <a:rPr lang="en-US" sz="1250" dirty="0">
                <a:solidFill>
                  <a:srgbClr val="CFE0EE"/>
                </a:solidFill>
                <a:latin typeface="Calibri" pitchFamily="34" charset="0"/>
                <a:ea typeface="Calibri" pitchFamily="34" charset="-122"/>
                <a:cs typeface="Calibri" pitchFamily="34" charset="-120"/>
              </a:rPr>
              <a:t>critical, not 100% of all vendors</a:t>
            </a:r>
            <a:endParaRPr lang="en-US" sz="1250" dirty="0"/>
          </a:p>
        </p:txBody>
      </p:sp>
      <p:sp>
        <p:nvSpPr>
          <p:cNvPr id="12" name="Text 10"/>
          <p:cNvSpPr txBox="1"/>
          <p:nvPr/>
        </p:nvSpPr>
        <p:spPr>
          <a:xfrm>
            <a:off x="822960" y="3200400"/>
            <a:ext cx="10515600" cy="365760"/>
          </a:xfrm>
          <a:prstGeom prst="rect">
            <a:avLst/>
          </a:prstGeom>
          <a:noFill/>
          <a:ln/>
        </p:spPr>
        <p:txBody>
          <a:bodyPr wrap="square" lIns="0" tIns="0" rIns="0" bIns="0" rtlCol="0" anchor="ctr"/>
          <a:lstStyle/>
          <a:p>
            <a:pPr marL="0" indent="0">
              <a:buNone/>
            </a:pPr>
            <a:r>
              <a:rPr lang="en-US" sz="1600" b="1" kern="0" spc="100" dirty="0">
                <a:solidFill>
                  <a:srgbClr val="8FE3C4"/>
                </a:solidFill>
                <a:latin typeface="Calibri" pitchFamily="34" charset="0"/>
                <a:ea typeface="Calibri" pitchFamily="34" charset="-122"/>
                <a:cs typeface="Calibri" pitchFamily="34" charset="-120"/>
              </a:rPr>
              <a:t>Where to act first</a:t>
            </a:r>
            <a:endParaRPr lang="en-US" sz="1600" dirty="0"/>
          </a:p>
        </p:txBody>
      </p:sp>
      <p:sp>
        <p:nvSpPr>
          <p:cNvPr id="13" name="Text 11"/>
          <p:cNvSpPr txBox="1"/>
          <p:nvPr/>
        </p:nvSpPr>
        <p:spPr>
          <a:xfrm>
            <a:off x="868680" y="3611880"/>
            <a:ext cx="10607040" cy="2651760"/>
          </a:xfrm>
          <a:prstGeom prst="rect">
            <a:avLst/>
          </a:prstGeom>
          <a:noFill/>
          <a:ln/>
        </p:spPr>
        <p:txBody>
          <a:bodyPr wrap="square" lIns="0" tIns="0" rIns="0" bIns="0" rtlCol="0" anchor="ctr"/>
          <a:lstStyle/>
          <a:p>
            <a:pPr marL="342900" indent="-342900">
              <a:spcAft>
                <a:spcPts val="800"/>
              </a:spcAft>
              <a:buSzPct val="100000"/>
              <a:buChar char="•"/>
            </a:pPr>
            <a:r>
              <a:rPr lang="en-US" sz="1500" b="1" dirty="0">
                <a:solidFill>
                  <a:srgbClr val="FFFFFF"/>
                </a:solidFill>
                <a:latin typeface="Calibri" pitchFamily="34" charset="0"/>
                <a:ea typeface="Calibri" pitchFamily="34" charset="-122"/>
                <a:cs typeface="Calibri" pitchFamily="34" charset="-120"/>
              </a:rPr>
              <a:t>Triage the 32 critical at-risk suppliers ($5.55M)</a:t>
            </a:r>
            <a:endParaRPr lang="en-US" sz="1500" dirty="0"/>
          </a:p>
          <a:p>
            <a:pPr marL="0" lvl="1" indent="0">
              <a:spcAft>
                <a:spcPts val="1000"/>
              </a:spcAft>
              <a:buNone/>
            </a:pPr>
            <a:r>
              <a:rPr lang="en-US" sz="1300" dirty="0">
                <a:solidFill>
                  <a:srgbClr val="CFE0EE"/>
                </a:solidFill>
                <a:latin typeface="Calibri" pitchFamily="34" charset="0"/>
                <a:ea typeface="Calibri" pitchFamily="34" charset="-122"/>
                <a:cs typeface="Calibri" pitchFamily="34" charset="-120"/>
              </a:rPr>
              <a:t>the only items that can stop the doors from opening; start with Monarch Mechanical and Precision Electrical.</a:t>
            </a:r>
            <a:endParaRPr lang="en-US" sz="1500" dirty="0"/>
          </a:p>
          <a:p>
            <a:pPr marL="342900" indent="-342900">
              <a:spcAft>
                <a:spcPts val="800"/>
              </a:spcAft>
              <a:buSzPct val="100000"/>
              <a:buChar char="•"/>
            </a:pPr>
            <a:r>
              <a:rPr lang="en-US" sz="1500" b="1" dirty="0">
                <a:solidFill>
                  <a:srgbClr val="FFFFFF"/>
                </a:solidFill>
                <a:latin typeface="Calibri" pitchFamily="34" charset="0"/>
                <a:ea typeface="Calibri" pitchFamily="34" charset="-122"/>
                <a:cs typeface="Calibri" pitchFamily="34" charset="-120"/>
              </a:rPr>
              <a:t>Clear the poor-comms cluster and Damon’s EOD bottleneck</a:t>
            </a:r>
            <a:endParaRPr lang="en-US" sz="1500" dirty="0"/>
          </a:p>
          <a:p>
            <a:pPr marL="0" lvl="1" indent="0">
              <a:spcAft>
                <a:spcPts val="1000"/>
              </a:spcAft>
              <a:buNone/>
            </a:pPr>
            <a:r>
              <a:rPr lang="en-US" sz="1300" dirty="0">
                <a:solidFill>
                  <a:srgbClr val="CFE0EE"/>
                </a:solidFill>
                <a:latin typeface="Calibri" pitchFamily="34" charset="0"/>
                <a:ea typeface="Calibri" pitchFamily="34" charset="-122"/>
                <a:cs typeface="Calibri" pitchFamily="34" charset="-120"/>
              </a:rPr>
              <a:t>the softest, most fixable risk sits with four named coordinators.</a:t>
            </a:r>
            <a:endParaRPr lang="en-US" sz="1500" dirty="0"/>
          </a:p>
          <a:p>
            <a:pPr marL="342900" indent="-342900">
              <a:spcAft>
                <a:spcPts val="800"/>
              </a:spcAft>
              <a:buSzPct val="100000"/>
              <a:buChar char="•"/>
            </a:pPr>
            <a:r>
              <a:rPr lang="en-US" sz="1500" b="1" dirty="0">
                <a:solidFill>
                  <a:srgbClr val="FFFFFF"/>
                </a:solidFill>
                <a:latin typeface="Calibri" pitchFamily="34" charset="0"/>
                <a:ea typeface="Calibri" pitchFamily="34" charset="-122"/>
                <a:cs typeface="Calibri" pitchFamily="34" charset="-120"/>
              </a:rPr>
              <a:t>Let completion climb on its own, and codify the top performers</a:t>
            </a:r>
            <a:endParaRPr lang="en-US" sz="1500" dirty="0"/>
          </a:p>
          <a:p>
            <a:pPr marL="0" lvl="1" indent="0">
              <a:buNone/>
            </a:pPr>
            <a:r>
              <a:rPr lang="en-US" sz="1300" dirty="0">
                <a:solidFill>
                  <a:srgbClr val="CFE0EE"/>
                </a:solidFill>
                <a:latin typeface="Calibri" pitchFamily="34" charset="0"/>
                <a:ea typeface="Calibri" pitchFamily="34" charset="-122"/>
                <a:cs typeface="Calibri" pitchFamily="34" charset="-120"/>
              </a:rPr>
              <a:t>the 38% figure drains upward as the pipeline clears; make Marisol and Trevor’s approach the standard.</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1593</Words>
  <Application>Microsoft Office PowerPoint</Application>
  <PresentationFormat>Widescreen</PresentationFormat>
  <Paragraphs>275</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Richard Witherspoon</cp:lastModifiedBy>
  <cp:revision>2</cp:revision>
  <dcterms:created xsi:type="dcterms:W3CDTF">2026-09-25T13:18:21Z</dcterms:created>
  <dcterms:modified xsi:type="dcterms:W3CDTF">2026-09-25T13:26:06Z</dcterms:modified>
</cp:coreProperties>
</file>